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Shape 1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Shape 2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know nothing about the coin before we look at it, except that it can be one of the two sides.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Shape 2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more flips we do, the more information we get about the probability distribution for the coin. We also know about whether or not a probability of reaching a certain state is non-zero.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7" name="Shape 4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know nothing about the coin before we look at it, except that it can be one of the two sides.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4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5" name="Shape 4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more flips we do, the more information we get about the probability distribution for the coin. We also know about whether or not a probability of reaching a certain state is non-zero.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7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34694">
              <a:lnSpc>
                <a:spcPct val="100000"/>
              </a:lnSpc>
              <a:spcBef>
                <a:spcPts val="0"/>
              </a:spcBef>
              <a:buSzTx/>
              <a:buNone/>
              <a:defRPr sz="4895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7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  <a:lvl2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2pPr>
            <a:lvl3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3pPr>
            <a:lvl4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4pPr>
            <a:lvl5pPr>
              <a:defRPr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80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81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2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hyperlink" Target="http://electronics.stackexchange.com/questions/220620/what-is-this-high-power-switch-symbol" TargetMode="External"/><Relationship Id="rId4" Type="http://schemas.openxmlformats.org/officeDocument/2006/relationships/hyperlink" Target="https://commons.wikimedia.org/wiki/File:SRAM_Cell_(6_Transistors).svg" TargetMode="External"/><Relationship Id="rId5" Type="http://schemas.openxmlformats.org/officeDocument/2006/relationships/image" Target="../media/image2.tif"/><Relationship Id="rId6" Type="http://schemas.openxmlformats.org/officeDocument/2006/relationships/image" Target="../media/image3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1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javafxpert.github.io/grok-bloch/" TargetMode="Externa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image" Target="../media/image1.tif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image" Target="../media/image1.tif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undamentals of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0"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Fundamentals of</a:t>
            </a:r>
          </a:p>
          <a:p>
            <a:pPr>
              <a:defRPr b="0"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Quantum Computing</a:t>
            </a:r>
          </a:p>
        </p:txBody>
      </p:sp>
      <p:sp>
        <p:nvSpPr>
          <p:cNvPr id="192" name="The Language of Quantum Information…"/>
          <p:cNvSpPr txBox="1"/>
          <p:nvPr/>
        </p:nvSpPr>
        <p:spPr>
          <a:xfrm>
            <a:off x="1206498" y="6946424"/>
            <a:ext cx="20859309" cy="2508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152" sz="7600">
                <a:solidFill>
                  <a:srgbClr val="FFFFFF"/>
                </a:solidFill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t>The Language of Quantum Information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119" sz="6000">
                <a:solidFill>
                  <a:srgbClr val="FFFFFF"/>
                </a:solidFill>
                <a:latin typeface="Avenir Light"/>
                <a:ea typeface="Avenir Light"/>
                <a:cs typeface="Avenir Light"/>
                <a:sym typeface="Avenir Light"/>
              </a:defRPr>
            </a:pPr>
            <a:r>
              <a:t>Probability, bra-kets, &amp; linear algebra</a:t>
            </a:r>
          </a:p>
        </p:txBody>
      </p:sp>
      <p:sp>
        <p:nvSpPr>
          <p:cNvPr id="193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4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5" name="Rectangle"/>
          <p:cNvSpPr txBox="1"/>
          <p:nvPr/>
        </p:nvSpPr>
        <p:spPr>
          <a:xfrm>
            <a:off x="959697" y="12157189"/>
            <a:ext cx="21971003" cy="1025692"/>
          </a:xfrm>
          <a:prstGeom prst="rect">
            <a:avLst/>
          </a:prstGeom>
          <a:ln w="12700">
            <a:miter lim="400000"/>
          </a:ln>
        </p:spPr>
        <p:txBody>
          <a:bodyPr lIns="45719" rIns="45719" anchor="b">
            <a:normAutofit fontScale="100000" lnSpcReduction="0"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4500">
                <a:latin typeface="Avenir Medium"/>
                <a:ea typeface="Avenir Medium"/>
                <a:cs typeface="Avenir Medium"/>
                <a:sym typeface="Avenir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8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9" name="Probability.…"/>
          <p:cNvSpPr txBox="1"/>
          <p:nvPr/>
        </p:nvSpPr>
        <p:spPr>
          <a:xfrm>
            <a:off x="957266" y="5498257"/>
            <a:ext cx="22469468" cy="2719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spc="-150" sz="7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Probability.</a:t>
            </a:r>
            <a:endParaRPr>
              <a:latin typeface="Avenir Black"/>
              <a:ea typeface="Avenir Black"/>
              <a:cs typeface="Avenir Black"/>
              <a:sym typeface="Avenir Black"/>
            </a:endParaRPr>
          </a:p>
          <a:p>
            <a:pPr algn="ctr">
              <a:lnSpc>
                <a:spcPct val="80000"/>
              </a:lnSpc>
              <a:spcBef>
                <a:spcPts val="0"/>
              </a:spcBef>
              <a:defRPr spc="-150" sz="7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(But probably not what you’d expect.)</a:t>
            </a:r>
          </a:p>
        </p:txBody>
      </p:sp>
      <p:sp>
        <p:nvSpPr>
          <p:cNvPr id="200" name="1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19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00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9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Let’s consider a coin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Let’s consider a coin.</a:t>
            </a:r>
          </a:p>
        </p:txBody>
      </p:sp>
      <p:sp>
        <p:nvSpPr>
          <p:cNvPr id="203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4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5" name="It has two sides.…"/>
          <p:cNvSpPr txBox="1"/>
          <p:nvPr/>
        </p:nvSpPr>
        <p:spPr>
          <a:xfrm>
            <a:off x="14901172" y="2875758"/>
            <a:ext cx="8892440" cy="7964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It has two sides.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119" sz="6000">
                <a:solidFill>
                  <a:srgbClr val="FFFFFF"/>
                </a:solidFill>
                <a:latin typeface="Avenir Black"/>
                <a:ea typeface="Avenir Black"/>
                <a:cs typeface="Avenir Black"/>
                <a:sym typeface="Avenir Black"/>
              </a:defRPr>
            </a:pPr>
            <a:r>
              <a:t>We don’t know anything else about the coin.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(1) Let’s toss it.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lnSpc>
                <a:spcPct val="80000"/>
              </a:lnSpc>
              <a:spcBef>
                <a:spcPts val="0"/>
              </a:spcBef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What do we know about it before we look at it?</a:t>
            </a:r>
          </a:p>
        </p:txBody>
      </p:sp>
      <p:grpSp>
        <p:nvGrpSpPr>
          <p:cNvPr id="209" name="Group"/>
          <p:cNvGrpSpPr/>
          <p:nvPr/>
        </p:nvGrpSpPr>
        <p:grpSpPr>
          <a:xfrm>
            <a:off x="1440400" y="3082902"/>
            <a:ext cx="13201411" cy="7966200"/>
            <a:chOff x="0" y="0"/>
            <a:chExt cx="13201409" cy="7966199"/>
          </a:xfrm>
        </p:grpSpPr>
        <p:pic>
          <p:nvPicPr>
            <p:cNvPr id="206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3201410" cy="6600705"/>
            </a:xfrm>
            <a:prstGeom prst="rect">
              <a:avLst/>
            </a:prstGeom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</p:pic>
        <p:sp>
          <p:nvSpPr>
            <p:cNvPr id="207" name="heads (H)"/>
            <p:cNvSpPr txBox="1"/>
            <p:nvPr/>
          </p:nvSpPr>
          <p:spPr>
            <a:xfrm>
              <a:off x="1883483" y="6823199"/>
              <a:ext cx="3168397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119"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heads (H)</a:t>
              </a:r>
            </a:p>
          </p:txBody>
        </p:sp>
        <p:sp>
          <p:nvSpPr>
            <p:cNvPr id="208" name="tails (T)"/>
            <p:cNvSpPr txBox="1"/>
            <p:nvPr/>
          </p:nvSpPr>
          <p:spPr>
            <a:xfrm>
              <a:off x="9012862" y="6823199"/>
              <a:ext cx="2361439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119"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tails (T)</a:t>
              </a:r>
            </a:p>
          </p:txBody>
        </p:sp>
      </p:grpSp>
      <p:sp>
        <p:nvSpPr>
          <p:cNvPr id="210" name="2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20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300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00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0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Let’s consider a coin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Let’s consider a coin.</a:t>
            </a:r>
          </a:p>
        </p:txBody>
      </p:sp>
      <p:sp>
        <p:nvSpPr>
          <p:cNvPr id="215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6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7" name="(2) Now we look at it.…"/>
          <p:cNvSpPr txBox="1"/>
          <p:nvPr/>
        </p:nvSpPr>
        <p:spPr>
          <a:xfrm>
            <a:off x="14901172" y="2875758"/>
            <a:ext cx="8892440" cy="7964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2243271">
              <a:lnSpc>
                <a:spcPct val="80000"/>
              </a:lnSpc>
              <a:spcBef>
                <a:spcPts val="0"/>
              </a:spcBef>
              <a:defRPr spc="-110" sz="552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(2) Now we look at it.</a:t>
            </a:r>
          </a:p>
          <a:p>
            <a:pPr defTabSz="2243271">
              <a:lnSpc>
                <a:spcPct val="80000"/>
              </a:lnSpc>
              <a:spcBef>
                <a:spcPts val="0"/>
              </a:spcBef>
              <a:defRPr spc="-110" sz="552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defTabSz="2243271">
              <a:lnSpc>
                <a:spcPct val="80000"/>
              </a:lnSpc>
              <a:spcBef>
                <a:spcPts val="0"/>
              </a:spcBef>
              <a:defRPr spc="-110" sz="552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What do we learn if it shows H (or T)?</a:t>
            </a:r>
          </a:p>
          <a:p>
            <a:pPr defTabSz="2243271">
              <a:lnSpc>
                <a:spcPct val="80000"/>
              </a:lnSpc>
              <a:spcBef>
                <a:spcPts val="0"/>
              </a:spcBef>
              <a:defRPr spc="-110" sz="552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defTabSz="2243271">
              <a:lnSpc>
                <a:spcPct val="80000"/>
              </a:lnSpc>
              <a:spcBef>
                <a:spcPts val="0"/>
              </a:spcBef>
              <a:defRPr spc="-110" sz="552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(3) Toss it again.</a:t>
            </a:r>
          </a:p>
          <a:p>
            <a:pPr defTabSz="2243271">
              <a:lnSpc>
                <a:spcPct val="80000"/>
              </a:lnSpc>
              <a:spcBef>
                <a:spcPts val="0"/>
              </a:spcBef>
              <a:defRPr spc="-110" sz="552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defTabSz="2243271">
              <a:lnSpc>
                <a:spcPct val="80000"/>
              </a:lnSpc>
              <a:spcBef>
                <a:spcPts val="0"/>
              </a:spcBef>
              <a:defRPr spc="-110" sz="552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What do we learn if it keeps landing on the same side?</a:t>
            </a:r>
          </a:p>
          <a:p>
            <a:pPr defTabSz="2243271">
              <a:lnSpc>
                <a:spcPct val="80000"/>
              </a:lnSpc>
              <a:spcBef>
                <a:spcPts val="0"/>
              </a:spcBef>
              <a:defRPr spc="-110" sz="552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Or on a different side?</a:t>
            </a:r>
          </a:p>
        </p:txBody>
      </p:sp>
      <p:grpSp>
        <p:nvGrpSpPr>
          <p:cNvPr id="221" name="Group"/>
          <p:cNvGrpSpPr/>
          <p:nvPr/>
        </p:nvGrpSpPr>
        <p:grpSpPr>
          <a:xfrm>
            <a:off x="1440400" y="3082902"/>
            <a:ext cx="13201411" cy="7966200"/>
            <a:chOff x="0" y="0"/>
            <a:chExt cx="13201409" cy="7966199"/>
          </a:xfrm>
        </p:grpSpPr>
        <p:pic>
          <p:nvPicPr>
            <p:cNvPr id="218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3201410" cy="6600705"/>
            </a:xfrm>
            <a:prstGeom prst="rect">
              <a:avLst/>
            </a:prstGeom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</p:pic>
        <p:sp>
          <p:nvSpPr>
            <p:cNvPr id="219" name="heads (H)"/>
            <p:cNvSpPr txBox="1"/>
            <p:nvPr/>
          </p:nvSpPr>
          <p:spPr>
            <a:xfrm>
              <a:off x="1883483" y="6823199"/>
              <a:ext cx="3168397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119"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heads (H)</a:t>
              </a:r>
            </a:p>
          </p:txBody>
        </p:sp>
        <p:sp>
          <p:nvSpPr>
            <p:cNvPr id="220" name="tails (T)"/>
            <p:cNvSpPr txBox="1"/>
            <p:nvPr/>
          </p:nvSpPr>
          <p:spPr>
            <a:xfrm>
              <a:off x="9012862" y="6823199"/>
              <a:ext cx="2361439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pc="-119"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tails (T)</a:t>
              </a:r>
            </a:p>
          </p:txBody>
        </p:sp>
      </p:grpSp>
      <p:sp>
        <p:nvSpPr>
          <p:cNvPr id="222" name="3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Now, consider a fair coin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Now, consider a fair coin.</a:t>
            </a:r>
          </a:p>
        </p:txBody>
      </p:sp>
      <p:sp>
        <p:nvSpPr>
          <p:cNvPr id="227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8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232" name="Group"/>
          <p:cNvGrpSpPr/>
          <p:nvPr/>
        </p:nvGrpSpPr>
        <p:grpSpPr>
          <a:xfrm>
            <a:off x="911879" y="2830239"/>
            <a:ext cx="8807207" cy="5328540"/>
            <a:chOff x="0" y="0"/>
            <a:chExt cx="8807205" cy="5328538"/>
          </a:xfrm>
        </p:grpSpPr>
        <p:pic>
          <p:nvPicPr>
            <p:cNvPr id="229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8807206" cy="4403603"/>
            </a:xfrm>
            <a:prstGeom prst="rect">
              <a:avLst/>
            </a:prstGeom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</p:pic>
        <p:sp>
          <p:nvSpPr>
            <p:cNvPr id="230" name="50%"/>
            <p:cNvSpPr txBox="1"/>
            <p:nvPr/>
          </p:nvSpPr>
          <p:spPr>
            <a:xfrm>
              <a:off x="1111719" y="4299374"/>
              <a:ext cx="2345637" cy="102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lnSpc>
                  <a:spcPct val="80000"/>
                </a:lnSpc>
                <a:spcBef>
                  <a:spcPts val="0"/>
                </a:spcBef>
                <a:defRPr spc="-119"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50%</a:t>
              </a:r>
            </a:p>
          </p:txBody>
        </p:sp>
        <p:sp>
          <p:nvSpPr>
            <p:cNvPr id="231" name="50%"/>
            <p:cNvSpPr txBox="1"/>
            <p:nvPr/>
          </p:nvSpPr>
          <p:spPr>
            <a:xfrm>
              <a:off x="5515276" y="4299374"/>
              <a:ext cx="2345638" cy="102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lnSpc>
                  <a:spcPct val="80000"/>
                </a:lnSpc>
                <a:spcBef>
                  <a:spcPts val="0"/>
                </a:spcBef>
                <a:defRPr spc="-119"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50%</a:t>
              </a:r>
            </a:p>
          </p:txBody>
        </p:sp>
      </p:grpSp>
      <p:sp>
        <p:nvSpPr>
          <p:cNvPr id="233" name="A fair coin is one that results in 50% chance of landing on H or T after being tossed."/>
          <p:cNvSpPr txBox="1"/>
          <p:nvPr/>
        </p:nvSpPr>
        <p:spPr>
          <a:xfrm>
            <a:off x="869263" y="8217779"/>
            <a:ext cx="8892440" cy="2608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pc="-110" sz="55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A fair coin is one that results in 50% chance of landing on H or T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after being tossed</a:t>
            </a:r>
            <a:r>
              <a:t>.</a:t>
            </a:r>
          </a:p>
        </p:txBody>
      </p:sp>
      <p:sp>
        <p:nvSpPr>
          <p:cNvPr id="234" name="What is the probability that the coin is H or T in the following cases?…"/>
          <p:cNvSpPr txBox="1"/>
          <p:nvPr/>
        </p:nvSpPr>
        <p:spPr>
          <a:xfrm>
            <a:off x="10116320" y="2724331"/>
            <a:ext cx="8479183" cy="816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2218888">
              <a:lnSpc>
                <a:spcPct val="80000"/>
              </a:lnSpc>
              <a:spcBef>
                <a:spcPts val="0"/>
              </a:spcBef>
              <a:defRPr spc="-89" sz="4459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What is the probability that the coin is H or T in the following cases?</a:t>
            </a:r>
          </a:p>
          <a:p>
            <a:pPr defTabSz="2218888">
              <a:lnSpc>
                <a:spcPct val="80000"/>
              </a:lnSpc>
              <a:spcBef>
                <a:spcPts val="0"/>
              </a:spcBef>
              <a:defRPr spc="-89" sz="4459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926967" indent="-926967" defTabSz="2218888">
              <a:lnSpc>
                <a:spcPct val="80000"/>
              </a:lnSpc>
              <a:spcBef>
                <a:spcPts val="0"/>
              </a:spcBef>
              <a:buSzPct val="100000"/>
              <a:buAutoNum type="arabicPeriod" startAt="1"/>
              <a:defRPr spc="-89" sz="4459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A fair coin is lying on a table, heads facing up.</a:t>
            </a:r>
          </a:p>
          <a:p>
            <a:pPr defTabSz="2218888">
              <a:lnSpc>
                <a:spcPct val="80000"/>
              </a:lnSpc>
              <a:spcBef>
                <a:spcPts val="0"/>
              </a:spcBef>
              <a:defRPr spc="-89" sz="4459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926967" indent="-926967" defTabSz="2218888">
              <a:lnSpc>
                <a:spcPct val="80000"/>
              </a:lnSpc>
              <a:spcBef>
                <a:spcPts val="0"/>
              </a:spcBef>
              <a:buSzPct val="100000"/>
              <a:buAutoNum type="arabicPeriod" startAt="2"/>
              <a:defRPr spc="-89" sz="4459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A fair coin is tossed. We don’t look at it yet.</a:t>
            </a:r>
          </a:p>
          <a:p>
            <a:pPr defTabSz="2218888">
              <a:lnSpc>
                <a:spcPct val="80000"/>
              </a:lnSpc>
              <a:spcBef>
                <a:spcPts val="0"/>
              </a:spcBef>
              <a:defRPr spc="-89" sz="4459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marL="926967" indent="-926967" defTabSz="2218888">
              <a:lnSpc>
                <a:spcPct val="80000"/>
              </a:lnSpc>
              <a:spcBef>
                <a:spcPts val="0"/>
              </a:spcBef>
              <a:buSzPct val="100000"/>
              <a:buAutoNum type="arabicPeriod" startAt="3"/>
              <a:defRPr spc="-89" sz="4459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We look at the tossed coin and see that it’s tails facing up.</a:t>
            </a:r>
          </a:p>
        </p:txBody>
      </p:sp>
      <p:sp>
        <p:nvSpPr>
          <p:cNvPr id="235" name="Equation"/>
          <p:cNvSpPr txBox="1"/>
          <p:nvPr/>
        </p:nvSpPr>
        <p:spPr>
          <a:xfrm>
            <a:off x="18950119" y="5492759"/>
            <a:ext cx="2241635" cy="5199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b"/>
                    </m:rP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sz="4800">
              <a:solidFill>
                <a:srgbClr val="FFFFFF"/>
              </a:solidFill>
            </a:endParaRPr>
          </a:p>
        </p:txBody>
      </p:sp>
      <p:grpSp>
        <p:nvGrpSpPr>
          <p:cNvPr id="238" name="Group"/>
          <p:cNvGrpSpPr/>
          <p:nvPr/>
        </p:nvGrpSpPr>
        <p:grpSpPr>
          <a:xfrm>
            <a:off x="18841611" y="6919169"/>
            <a:ext cx="5260982" cy="1299059"/>
            <a:chOff x="0" y="0"/>
            <a:chExt cx="5260981" cy="1299057"/>
          </a:xfrm>
        </p:grpSpPr>
        <p:sp>
          <p:nvSpPr>
            <p:cNvPr id="236" name="Equation"/>
            <p:cNvSpPr txBox="1"/>
            <p:nvPr/>
          </p:nvSpPr>
          <p:spPr>
            <a:xfrm>
              <a:off x="0" y="0"/>
              <a:ext cx="2458653" cy="12990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914400" latinLnBrk="1">
                <a:lnSpc>
                  <a:spcPct val="100000"/>
                </a:lnSpc>
                <a:spcBef>
                  <a:spcPts val="0"/>
                </a:spcBef>
                <a:defRPr sz="1800"/>
              </a:pPr>
              <a14:m>
                <m:oMathPara>
                  <m:oMathParaPr>
                    <m:jc m:val="centerGroup"/>
                  </m:oMathParaPr>
                  <m:oMath>
                    <m:r>
                      <m:rPr>
                        <m:sty m:val="b"/>
                      </m:rP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xmlns:a="http://schemas.openxmlformats.org/drawingml/2006/main" sz="4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  <m:type m:val="bar"/>
                      </m:fPr>
                      <m:num>
                        <m:r>
                          <a:rPr xmlns:a="http://schemas.openxmlformats.org/drawingml/2006/main" sz="4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xmlns:a="http://schemas.openxmlformats.org/drawingml/2006/main" sz="4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m:oMathPara>
              </a14:m>
              <a:endParaRPr sz="4800">
                <a:solidFill>
                  <a:srgbClr val="FFFFFF"/>
                </a:solidFill>
              </a:endParaRPr>
            </a:p>
          </p:txBody>
        </p:sp>
        <p:sp>
          <p:nvSpPr>
            <p:cNvPr id="237" name="Equation"/>
            <p:cNvSpPr txBox="1"/>
            <p:nvPr/>
          </p:nvSpPr>
          <p:spPr>
            <a:xfrm>
              <a:off x="2885234" y="0"/>
              <a:ext cx="2375748" cy="12990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914400" latinLnBrk="1">
                <a:lnSpc>
                  <a:spcPct val="100000"/>
                </a:lnSpc>
                <a:spcBef>
                  <a:spcPts val="0"/>
                </a:spcBef>
                <a:defRPr sz="1800"/>
              </a:pPr>
              <a14:m>
                <m:oMathPara>
                  <m:oMathParaPr>
                    <m:jc m:val="centerGroup"/>
                  </m:oMathParaPr>
                  <m:oMath>
                    <m:r>
                      <m:rPr>
                        <m:sty m:val="b"/>
                      </m:rP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xmlns:a="http://schemas.openxmlformats.org/drawingml/2006/main" sz="4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  <m:type m:val="bar"/>
                      </m:fPr>
                      <m:num>
                        <m:r>
                          <a:rPr xmlns:a="http://schemas.openxmlformats.org/drawingml/2006/main" sz="4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xmlns:a="http://schemas.openxmlformats.org/drawingml/2006/main" sz="4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m:oMathPara>
              </a14:m>
              <a:endParaRPr sz="4800">
                <a:solidFill>
                  <a:srgbClr val="FFFFFF"/>
                </a:solidFill>
              </a:endParaRPr>
            </a:p>
          </p:txBody>
        </p:sp>
      </p:grpSp>
      <p:sp>
        <p:nvSpPr>
          <p:cNvPr id="239" name="Equation"/>
          <p:cNvSpPr txBox="1"/>
          <p:nvPr/>
        </p:nvSpPr>
        <p:spPr>
          <a:xfrm>
            <a:off x="18991572" y="9703239"/>
            <a:ext cx="2158730" cy="5199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b"/>
                    </m:rP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P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sz="4800">
              <a:solidFill>
                <a:srgbClr val="FFFFFF"/>
              </a:solidFill>
            </a:endParaRPr>
          </a:p>
        </p:txBody>
      </p:sp>
      <p:sp>
        <p:nvSpPr>
          <p:cNvPr id="240" name="4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300"/>
                                        <p:tgtEl>
                                          <p:spTgt spid="2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00"/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9" dur="300"/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300"/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8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300"/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300"/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"/>
                            </p:stCondLst>
                            <p:childTnLst>
                              <p:par>
                                <p:cTn id="39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300"/>
                            </p:stCondLst>
                            <p:childTnLst>
                              <p:par>
                                <p:cTn id="43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300"/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300"/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"/>
                            </p:stCondLst>
                            <p:childTnLst>
                              <p:par>
                                <p:cTn id="52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4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3" grpId="1"/>
      <p:bldP build="whole" bldLvl="1" animBg="1" rev="0" advAuto="0" spid="239" grpId="5"/>
      <p:bldP build="whole" bldLvl="1" animBg="1" rev="0" advAuto="0" spid="235" grpId="3"/>
      <p:bldP build="whole" bldLvl="1" animBg="1" rev="0" advAuto="0" spid="238" grpId="4"/>
      <p:bldP build="p" bldLvl="5" animBg="1" rev="0" advAuto="0" spid="234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3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4" name="Bits."/>
          <p:cNvSpPr txBox="1"/>
          <p:nvPr/>
        </p:nvSpPr>
        <p:spPr>
          <a:xfrm>
            <a:off x="957266" y="5498257"/>
            <a:ext cx="22469468" cy="2719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150" sz="7500">
                <a:solidFill>
                  <a:srgbClr val="FFFFFF"/>
                </a:solidFill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Bits.</a:t>
            </a:r>
          </a:p>
        </p:txBody>
      </p:sp>
      <p:sp>
        <p:nvSpPr>
          <p:cNvPr id="245" name="5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2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4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What is a bi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What is a bit?</a:t>
            </a:r>
          </a:p>
        </p:txBody>
      </p:sp>
      <p:sp>
        <p:nvSpPr>
          <p:cNvPr id="248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9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0" name="A binary digit."/>
          <p:cNvSpPr txBox="1"/>
          <p:nvPr/>
        </p:nvSpPr>
        <p:spPr>
          <a:xfrm>
            <a:off x="1244799" y="2774384"/>
            <a:ext cx="13538241" cy="1161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A </a:t>
            </a:r>
            <a:r>
              <a:rPr i="1">
                <a:latin typeface="Avenir Heavy"/>
                <a:ea typeface="Avenir Heavy"/>
                <a:cs typeface="Avenir Heavy"/>
                <a:sym typeface="Avenir Heavy"/>
              </a:rPr>
              <a:t>binary digit</a:t>
            </a:r>
            <a:r>
              <a:t>.</a:t>
            </a:r>
          </a:p>
        </p:txBody>
      </p:sp>
      <p:sp>
        <p:nvSpPr>
          <p:cNvPr id="251" name="0 or 1s."/>
          <p:cNvSpPr txBox="1"/>
          <p:nvPr/>
        </p:nvSpPr>
        <p:spPr>
          <a:xfrm>
            <a:off x="1206344" y="5998872"/>
            <a:ext cx="5943365" cy="171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170" sz="8500">
                <a:solidFill>
                  <a:srgbClr val="FFFFFF"/>
                </a:solidFill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0 or 1s.</a:t>
            </a:r>
          </a:p>
        </p:txBody>
      </p:sp>
      <p:grpSp>
        <p:nvGrpSpPr>
          <p:cNvPr id="254" name="Group"/>
          <p:cNvGrpSpPr/>
          <p:nvPr/>
        </p:nvGrpSpPr>
        <p:grpSpPr>
          <a:xfrm>
            <a:off x="10535285" y="4380840"/>
            <a:ext cx="6455715" cy="4954320"/>
            <a:chOff x="0" y="0"/>
            <a:chExt cx="6455713" cy="4954319"/>
          </a:xfrm>
        </p:grpSpPr>
        <p:sp>
          <p:nvSpPr>
            <p:cNvPr id="252" name="http://electronics.stackexchange.com/questions/220620/what-is-this-high-power-switch-symbol…"/>
            <p:cNvSpPr txBox="1"/>
            <p:nvPr/>
          </p:nvSpPr>
          <p:spPr>
            <a:xfrm>
              <a:off x="0" y="2808242"/>
              <a:ext cx="6455714" cy="21460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/>
            <a:p>
              <a:pPr defTabSz="1194786">
                <a:lnSpc>
                  <a:spcPct val="80000"/>
                </a:lnSpc>
                <a:spcBef>
                  <a:spcPts val="400"/>
                </a:spcBef>
                <a:defRPr spc="-48" sz="2401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pPr>
              <a:r>
                <a:rPr u="sng">
                  <a:hlinkClick r:id="rId3" invalidUrl="" action="" tgtFrame="" tooltip="" history="1" highlightClick="0" endSnd="0"/>
                </a:rPr>
                <a:t>http://electronics.stackexchange.com/questions/220620/what-is-this-high-power-switch-symbol</a:t>
              </a:r>
            </a:p>
            <a:p>
              <a:pPr defTabSz="1194786">
                <a:lnSpc>
                  <a:spcPct val="80000"/>
                </a:lnSpc>
                <a:spcBef>
                  <a:spcPts val="400"/>
                </a:spcBef>
                <a:defRPr spc="-48" sz="2401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pPr>
            </a:p>
            <a:p>
              <a:pPr defTabSz="1194786">
                <a:lnSpc>
                  <a:spcPct val="80000"/>
                </a:lnSpc>
                <a:spcBef>
                  <a:spcPts val="400"/>
                </a:spcBef>
                <a:defRPr spc="-48" sz="2401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pPr>
              <a:r>
                <a:rPr u="sng">
                  <a:hlinkClick r:id="rId4" invalidUrl="" action="" tgtFrame="" tooltip="" history="1" highlightClick="0" endSnd="0"/>
                </a:rPr>
                <a:t>https://commons.wikimedia.org/wiki/File:SRAM_Cell_(6_Transistors).svg</a:t>
              </a:r>
            </a:p>
          </p:txBody>
        </p:sp>
        <p:pic>
          <p:nvPicPr>
            <p:cNvPr id="253" name="Image" descr="Image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0" t="6778" r="65182" b="71509"/>
            <a:stretch>
              <a:fillRect/>
            </a:stretch>
          </p:blipFill>
          <p:spPr>
            <a:xfrm>
              <a:off x="30036" y="0"/>
              <a:ext cx="6395800" cy="22534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5" name="Line"/>
          <p:cNvSpPr/>
          <p:nvPr/>
        </p:nvSpPr>
        <p:spPr>
          <a:xfrm>
            <a:off x="7213772" y="6858000"/>
            <a:ext cx="2292085" cy="0"/>
          </a:xfrm>
          <a:prstGeom prst="line">
            <a:avLst/>
          </a:prstGeom>
          <a:ln w="2286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</a:p>
        </p:txBody>
      </p:sp>
      <p:grpSp>
        <p:nvGrpSpPr>
          <p:cNvPr id="258" name="Group"/>
          <p:cNvGrpSpPr/>
          <p:nvPr/>
        </p:nvGrpSpPr>
        <p:grpSpPr>
          <a:xfrm>
            <a:off x="17609153" y="4380839"/>
            <a:ext cx="5838472" cy="4954321"/>
            <a:chOff x="0" y="0"/>
            <a:chExt cx="5838471" cy="4954319"/>
          </a:xfrm>
        </p:grpSpPr>
        <p:sp>
          <p:nvSpPr>
            <p:cNvPr id="256" name="Rectangle"/>
            <p:cNvSpPr/>
            <p:nvPr/>
          </p:nvSpPr>
          <p:spPr>
            <a:xfrm>
              <a:off x="0" y="0"/>
              <a:ext cx="5838472" cy="495432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pic>
          <p:nvPicPr>
            <p:cNvPr id="257" name="Image" descr="Image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366843" y="495048"/>
              <a:ext cx="5285633" cy="39642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9" name="Different physical representations of same abstract concept."/>
          <p:cNvSpPr txBox="1"/>
          <p:nvPr/>
        </p:nvSpPr>
        <p:spPr>
          <a:xfrm>
            <a:off x="11386547" y="1857558"/>
            <a:ext cx="12019996" cy="171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1463003">
              <a:lnSpc>
                <a:spcPct val="80000"/>
              </a:lnSpc>
              <a:spcBef>
                <a:spcPts val="0"/>
              </a:spcBef>
              <a:defRPr spc="-102" sz="5100">
                <a:solidFill>
                  <a:srgbClr val="FFFFFF"/>
                </a:solidFill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Different physical representations of same abstract concept.</a:t>
            </a:r>
          </a:p>
        </p:txBody>
      </p:sp>
      <p:sp>
        <p:nvSpPr>
          <p:cNvPr id="260" name="Switch."/>
          <p:cNvSpPr txBox="1"/>
          <p:nvPr/>
        </p:nvSpPr>
        <p:spPr>
          <a:xfrm>
            <a:off x="10535285" y="9505787"/>
            <a:ext cx="6455715" cy="100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100" sz="5000">
                <a:solidFill>
                  <a:srgbClr val="FFFFFF"/>
                </a:solidFill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Switch.</a:t>
            </a:r>
          </a:p>
        </p:txBody>
      </p:sp>
      <p:sp>
        <p:nvSpPr>
          <p:cNvPr id="261" name="6T-SRAM cell."/>
          <p:cNvSpPr txBox="1"/>
          <p:nvPr/>
        </p:nvSpPr>
        <p:spPr>
          <a:xfrm>
            <a:off x="17300533" y="9505787"/>
            <a:ext cx="6455714" cy="100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100" sz="5000">
                <a:solidFill>
                  <a:srgbClr val="FFFFFF"/>
                </a:solidFill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6T-SRAM cell.</a:t>
            </a:r>
          </a:p>
        </p:txBody>
      </p:sp>
      <p:sp>
        <p:nvSpPr>
          <p:cNvPr id="262" name="6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2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"/>
                            </p:stCondLst>
                            <p:childTnLst>
                              <p:par>
                                <p:cTn id="27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3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3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"/>
                            </p:stCondLst>
                            <p:childTnLst>
                              <p:par>
                                <p:cTn id="36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3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3" dur="3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1" grpId="2"/>
      <p:bldP build="whole" bldLvl="1" animBg="1" rev="0" advAuto="0" spid="255" grpId="3"/>
      <p:bldP build="whole" bldLvl="1" animBg="1" rev="0" advAuto="0" spid="254" grpId="4"/>
      <p:bldP build="whole" bldLvl="1" animBg="1" rev="0" advAuto="0" spid="258" grpId="6"/>
      <p:bldP build="whole" bldLvl="1" animBg="1" rev="0" advAuto="0" spid="259" grpId="8"/>
      <p:bldP build="whole" bldLvl="1" animBg="1" rev="0" advAuto="0" spid="261" grpId="7"/>
      <p:bldP build="p" bldLvl="5" animBg="1" rev="0" advAuto="0" spid="250" grpId="1"/>
      <p:bldP build="whole" bldLvl="1" animBg="1" rev="0" advAuto="0" spid="260" grpId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5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6" name="Line"/>
          <p:cNvSpPr/>
          <p:nvPr/>
        </p:nvSpPr>
        <p:spPr>
          <a:xfrm>
            <a:off x="-275014" y="4266545"/>
            <a:ext cx="24705428" cy="1"/>
          </a:xfrm>
          <a:prstGeom prst="line">
            <a:avLst/>
          </a:prstGeom>
          <a:ln w="889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</a:p>
        </p:txBody>
      </p:sp>
      <p:grpSp>
        <p:nvGrpSpPr>
          <p:cNvPr id="270" name="Group"/>
          <p:cNvGrpSpPr/>
          <p:nvPr/>
        </p:nvGrpSpPr>
        <p:grpSpPr>
          <a:xfrm>
            <a:off x="15328549" y="243227"/>
            <a:ext cx="2482801" cy="4054905"/>
            <a:chOff x="0" y="0"/>
            <a:chExt cx="2482800" cy="4054904"/>
          </a:xfrm>
        </p:grpSpPr>
        <p:sp>
          <p:nvSpPr>
            <p:cNvPr id="267" name="0"/>
            <p:cNvSpPr txBox="1"/>
            <p:nvPr/>
          </p:nvSpPr>
          <p:spPr>
            <a:xfrm>
              <a:off x="0" y="445772"/>
              <a:ext cx="2482801" cy="1718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algn="ctr">
                <a:lnSpc>
                  <a:spcPct val="80000"/>
                </a:lnSpc>
                <a:spcBef>
                  <a:spcPts val="0"/>
                </a:spcBef>
                <a:defRPr spc="-170" sz="8500">
                  <a:solidFill>
                    <a:srgbClr val="FFFFFF"/>
                  </a:solidFill>
                  <a:latin typeface="Avenir Black"/>
                  <a:ea typeface="Avenir Black"/>
                  <a:cs typeface="Avenir Black"/>
                  <a:sym typeface="Avenir Black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268" name="Circle"/>
            <p:cNvSpPr/>
            <p:nvPr/>
          </p:nvSpPr>
          <p:spPr>
            <a:xfrm>
              <a:off x="63500" y="0"/>
              <a:ext cx="2355801" cy="2355801"/>
            </a:xfrm>
            <a:prstGeom prst="ellipse">
              <a:avLst/>
            </a:prstGeom>
            <a:noFill/>
            <a:ln w="1270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69" name="Line"/>
            <p:cNvSpPr/>
            <p:nvPr/>
          </p:nvSpPr>
          <p:spPr>
            <a:xfrm flipV="1">
              <a:off x="1241400" y="2340865"/>
              <a:ext cx="1" cy="1714040"/>
            </a:xfrm>
            <a:prstGeom prst="line">
              <a:avLst/>
            </a:prstGeom>
            <a:noFill/>
            <a:ln w="139700" cap="flat">
              <a:solidFill>
                <a:srgbClr val="FFFFFF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71" name="Only two symbols are 'valid' in binary. Any two!"/>
          <p:cNvSpPr txBox="1"/>
          <p:nvPr/>
        </p:nvSpPr>
        <p:spPr>
          <a:xfrm>
            <a:off x="1967445" y="4712170"/>
            <a:ext cx="20848847" cy="1161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Only two symbols are 'valid' in binary. Any two!</a:t>
            </a:r>
          </a:p>
        </p:txBody>
      </p:sp>
      <p:grpSp>
        <p:nvGrpSpPr>
          <p:cNvPr id="275" name="Group"/>
          <p:cNvGrpSpPr/>
          <p:nvPr/>
        </p:nvGrpSpPr>
        <p:grpSpPr>
          <a:xfrm>
            <a:off x="6972387" y="177351"/>
            <a:ext cx="2482801" cy="4054905"/>
            <a:chOff x="0" y="0"/>
            <a:chExt cx="2482800" cy="4054904"/>
          </a:xfrm>
        </p:grpSpPr>
        <p:sp>
          <p:nvSpPr>
            <p:cNvPr id="272" name="1"/>
            <p:cNvSpPr txBox="1"/>
            <p:nvPr/>
          </p:nvSpPr>
          <p:spPr>
            <a:xfrm>
              <a:off x="0" y="445772"/>
              <a:ext cx="2482801" cy="1718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algn="ctr">
                <a:lnSpc>
                  <a:spcPct val="80000"/>
                </a:lnSpc>
                <a:spcBef>
                  <a:spcPts val="0"/>
                </a:spcBef>
                <a:defRPr spc="-170" sz="8500">
                  <a:solidFill>
                    <a:srgbClr val="FFFFFF"/>
                  </a:solidFill>
                  <a:latin typeface="Avenir Black"/>
                  <a:ea typeface="Avenir Black"/>
                  <a:cs typeface="Avenir Black"/>
                  <a:sym typeface="Avenir Black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73" name="Circle"/>
            <p:cNvSpPr/>
            <p:nvPr/>
          </p:nvSpPr>
          <p:spPr>
            <a:xfrm>
              <a:off x="63500" y="0"/>
              <a:ext cx="2355801" cy="2355801"/>
            </a:xfrm>
            <a:prstGeom prst="ellipse">
              <a:avLst/>
            </a:prstGeom>
            <a:noFill/>
            <a:ln w="1270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4" name="Line"/>
            <p:cNvSpPr/>
            <p:nvPr/>
          </p:nvSpPr>
          <p:spPr>
            <a:xfrm flipV="1">
              <a:off x="1241400" y="2340865"/>
              <a:ext cx="1" cy="1714040"/>
            </a:xfrm>
            <a:prstGeom prst="line">
              <a:avLst/>
            </a:prstGeom>
            <a:noFill/>
            <a:ln w="139700" cap="flat">
              <a:solidFill>
                <a:srgbClr val="FFFFFF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76" name="Line"/>
          <p:cNvSpPr/>
          <p:nvPr/>
        </p:nvSpPr>
        <p:spPr>
          <a:xfrm>
            <a:off x="-275014" y="9999052"/>
            <a:ext cx="24705428" cy="1"/>
          </a:xfrm>
          <a:prstGeom prst="line">
            <a:avLst/>
          </a:prstGeom>
          <a:ln w="889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</a:p>
        </p:txBody>
      </p:sp>
      <p:grpSp>
        <p:nvGrpSpPr>
          <p:cNvPr id="280" name="Group"/>
          <p:cNvGrpSpPr/>
          <p:nvPr/>
        </p:nvGrpSpPr>
        <p:grpSpPr>
          <a:xfrm>
            <a:off x="6972387" y="5975734"/>
            <a:ext cx="2482801" cy="4054905"/>
            <a:chOff x="0" y="0"/>
            <a:chExt cx="2482800" cy="4054904"/>
          </a:xfrm>
        </p:grpSpPr>
        <p:sp>
          <p:nvSpPr>
            <p:cNvPr id="277" name="T"/>
            <p:cNvSpPr txBox="1"/>
            <p:nvPr/>
          </p:nvSpPr>
          <p:spPr>
            <a:xfrm>
              <a:off x="0" y="445772"/>
              <a:ext cx="2482801" cy="1718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algn="ctr">
                <a:lnSpc>
                  <a:spcPct val="80000"/>
                </a:lnSpc>
                <a:spcBef>
                  <a:spcPts val="0"/>
                </a:spcBef>
                <a:defRPr spc="-170" sz="8500">
                  <a:solidFill>
                    <a:srgbClr val="FFFFFF"/>
                  </a:solidFill>
                  <a:latin typeface="Avenir Black"/>
                  <a:ea typeface="Avenir Black"/>
                  <a:cs typeface="Avenir Black"/>
                  <a:sym typeface="Avenir Black"/>
                </a:defRPr>
              </a:lvl1pPr>
            </a:lstStyle>
            <a:p>
              <a:pPr/>
              <a:r>
                <a:t>T</a:t>
              </a:r>
            </a:p>
          </p:txBody>
        </p:sp>
        <p:sp>
          <p:nvSpPr>
            <p:cNvPr id="278" name="Circle"/>
            <p:cNvSpPr/>
            <p:nvPr/>
          </p:nvSpPr>
          <p:spPr>
            <a:xfrm>
              <a:off x="63500" y="0"/>
              <a:ext cx="2355801" cy="2355801"/>
            </a:xfrm>
            <a:prstGeom prst="ellipse">
              <a:avLst/>
            </a:prstGeom>
            <a:noFill/>
            <a:ln w="1270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9" name="Line"/>
            <p:cNvSpPr/>
            <p:nvPr/>
          </p:nvSpPr>
          <p:spPr>
            <a:xfrm flipV="1">
              <a:off x="1241400" y="2340865"/>
              <a:ext cx="1" cy="1714040"/>
            </a:xfrm>
            <a:prstGeom prst="line">
              <a:avLst/>
            </a:prstGeom>
            <a:noFill/>
            <a:ln w="139700" cap="flat">
              <a:solidFill>
                <a:srgbClr val="FFFFFF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284" name="Group"/>
          <p:cNvGrpSpPr/>
          <p:nvPr/>
        </p:nvGrpSpPr>
        <p:grpSpPr>
          <a:xfrm>
            <a:off x="15328549" y="5975734"/>
            <a:ext cx="2482801" cy="4054905"/>
            <a:chOff x="0" y="0"/>
            <a:chExt cx="2482800" cy="4054904"/>
          </a:xfrm>
        </p:grpSpPr>
        <p:sp>
          <p:nvSpPr>
            <p:cNvPr id="281" name="H"/>
            <p:cNvSpPr txBox="1"/>
            <p:nvPr/>
          </p:nvSpPr>
          <p:spPr>
            <a:xfrm>
              <a:off x="0" y="445772"/>
              <a:ext cx="2482801" cy="1718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algn="ctr">
                <a:lnSpc>
                  <a:spcPct val="80000"/>
                </a:lnSpc>
                <a:spcBef>
                  <a:spcPts val="0"/>
                </a:spcBef>
                <a:defRPr spc="-170" sz="8500">
                  <a:solidFill>
                    <a:srgbClr val="FFFFFF"/>
                  </a:solidFill>
                  <a:latin typeface="Avenir Black"/>
                  <a:ea typeface="Avenir Black"/>
                  <a:cs typeface="Avenir Black"/>
                  <a:sym typeface="Avenir Black"/>
                </a:defRPr>
              </a:lvl1pPr>
            </a:lstStyle>
            <a:p>
              <a:pPr/>
              <a:r>
                <a:t>H</a:t>
              </a:r>
            </a:p>
          </p:txBody>
        </p:sp>
        <p:sp>
          <p:nvSpPr>
            <p:cNvPr id="282" name="Circle"/>
            <p:cNvSpPr/>
            <p:nvPr/>
          </p:nvSpPr>
          <p:spPr>
            <a:xfrm>
              <a:off x="63500" y="0"/>
              <a:ext cx="2355801" cy="2355801"/>
            </a:xfrm>
            <a:prstGeom prst="ellipse">
              <a:avLst/>
            </a:prstGeom>
            <a:noFill/>
            <a:ln w="1270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3" name="Line"/>
            <p:cNvSpPr/>
            <p:nvPr/>
          </p:nvSpPr>
          <p:spPr>
            <a:xfrm flipV="1">
              <a:off x="1241400" y="2340865"/>
              <a:ext cx="1" cy="1714040"/>
            </a:xfrm>
            <a:prstGeom prst="line">
              <a:avLst/>
            </a:prstGeom>
            <a:noFill/>
            <a:ln w="139700" cap="flat">
              <a:solidFill>
                <a:srgbClr val="FFFFFF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85" name="7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2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5" grpId="3"/>
      <p:bldP build="whole" bldLvl="1" animBg="1" rev="0" advAuto="0" spid="270" grpId="2"/>
      <p:bldP build="whole" bldLvl="1" animBg="1" rev="0" advAuto="0" spid="280" grpId="4"/>
      <p:bldP build="p" bldLvl="5" animBg="1" rev="0" advAuto="0" spid="271" grpId="1"/>
      <p:bldP build="whole" bldLvl="1" animBg="1" rev="0" advAuto="0" spid="284" grpId="5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What is a bi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What is a bit?</a:t>
            </a:r>
          </a:p>
        </p:txBody>
      </p:sp>
      <p:sp>
        <p:nvSpPr>
          <p:cNvPr id="288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9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0" name="Line"/>
          <p:cNvSpPr/>
          <p:nvPr/>
        </p:nvSpPr>
        <p:spPr>
          <a:xfrm>
            <a:off x="-360582" y="7578658"/>
            <a:ext cx="24705427" cy="1"/>
          </a:xfrm>
          <a:prstGeom prst="line">
            <a:avLst/>
          </a:prstGeom>
          <a:ln w="889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</a:p>
        </p:txBody>
      </p:sp>
      <p:grpSp>
        <p:nvGrpSpPr>
          <p:cNvPr id="294" name="Group"/>
          <p:cNvGrpSpPr/>
          <p:nvPr/>
        </p:nvGrpSpPr>
        <p:grpSpPr>
          <a:xfrm>
            <a:off x="6772519" y="3555340"/>
            <a:ext cx="2482801" cy="4054905"/>
            <a:chOff x="0" y="0"/>
            <a:chExt cx="2482800" cy="4054904"/>
          </a:xfrm>
        </p:grpSpPr>
        <p:sp>
          <p:nvSpPr>
            <p:cNvPr id="291" name="Rectangle"/>
            <p:cNvSpPr txBox="1"/>
            <p:nvPr/>
          </p:nvSpPr>
          <p:spPr>
            <a:xfrm>
              <a:off x="0" y="318772"/>
              <a:ext cx="2482801" cy="1718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algn="ctr" defTabSz="2170121">
                <a:lnSpc>
                  <a:spcPct val="80000"/>
                </a:lnSpc>
                <a:spcBef>
                  <a:spcPts val="0"/>
                </a:spcBef>
                <a:defRPr spc="-151" sz="7565">
                  <a:solidFill>
                    <a:srgbClr val="FFFFFF"/>
                  </a:solidFill>
                  <a:latin typeface="Avenir Black"/>
                  <a:ea typeface="Avenir Black"/>
                  <a:cs typeface="Avenir Black"/>
                  <a:sym typeface="Avenir Blac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d>
                      <m:dPr>
                        <m:ctrlPr>
                          <a:rPr xmlns:a="http://schemas.openxmlformats.org/drawingml/2006/main" sz="51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xmlns:a="http://schemas.openxmlformats.org/drawingml/2006/main" sz="51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xmlns:a="http://schemas.openxmlformats.org/drawingml/2006/main" sz="51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xmlns:a="http://schemas.openxmlformats.org/drawingml/2006/main" sz="51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m:oMathPara>
              </a14:m>
              <a:endParaRPr sz="8500"/>
            </a:p>
          </p:txBody>
        </p:sp>
        <p:sp>
          <p:nvSpPr>
            <p:cNvPr id="292" name="Circle"/>
            <p:cNvSpPr/>
            <p:nvPr/>
          </p:nvSpPr>
          <p:spPr>
            <a:xfrm>
              <a:off x="63500" y="0"/>
              <a:ext cx="2355801" cy="2355801"/>
            </a:xfrm>
            <a:prstGeom prst="ellipse">
              <a:avLst/>
            </a:prstGeom>
            <a:noFill/>
            <a:ln w="1270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93" name="Line"/>
            <p:cNvSpPr/>
            <p:nvPr/>
          </p:nvSpPr>
          <p:spPr>
            <a:xfrm flipV="1">
              <a:off x="1241400" y="2340865"/>
              <a:ext cx="1" cy="1714040"/>
            </a:xfrm>
            <a:prstGeom prst="line">
              <a:avLst/>
            </a:prstGeom>
            <a:noFill/>
            <a:ln w="139700" cap="flat">
              <a:solidFill>
                <a:srgbClr val="FFFFFF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298" name="Group"/>
          <p:cNvGrpSpPr/>
          <p:nvPr/>
        </p:nvGrpSpPr>
        <p:grpSpPr>
          <a:xfrm>
            <a:off x="15128681" y="3555340"/>
            <a:ext cx="2482801" cy="4054905"/>
            <a:chOff x="0" y="0"/>
            <a:chExt cx="2482800" cy="4054904"/>
          </a:xfrm>
        </p:grpSpPr>
        <p:sp>
          <p:nvSpPr>
            <p:cNvPr id="295" name="Rectangle"/>
            <p:cNvSpPr txBox="1"/>
            <p:nvPr/>
          </p:nvSpPr>
          <p:spPr>
            <a:xfrm>
              <a:off x="0" y="318772"/>
              <a:ext cx="2482801" cy="1718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algn="ctr" defTabSz="2170121">
                <a:lnSpc>
                  <a:spcPct val="80000"/>
                </a:lnSpc>
                <a:spcBef>
                  <a:spcPts val="0"/>
                </a:spcBef>
                <a:defRPr spc="-151" sz="7565">
                  <a:solidFill>
                    <a:srgbClr val="FFFFFF"/>
                  </a:solidFill>
                  <a:latin typeface="Avenir Black"/>
                  <a:ea typeface="Avenir Black"/>
                  <a:cs typeface="Avenir Black"/>
                  <a:sym typeface="Avenir Blac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d>
                      <m:dPr>
                        <m:ctrlPr>
                          <a:rPr xmlns:a="http://schemas.openxmlformats.org/drawingml/2006/main" sz="51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xmlns:a="http://schemas.openxmlformats.org/drawingml/2006/main" sz="51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xmlns:a="http://schemas.openxmlformats.org/drawingml/2006/main" sz="51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xmlns:a="http://schemas.openxmlformats.org/drawingml/2006/main" sz="515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m:oMathPara>
              </a14:m>
              <a:endParaRPr sz="8500"/>
            </a:p>
          </p:txBody>
        </p:sp>
        <p:sp>
          <p:nvSpPr>
            <p:cNvPr id="296" name="Circle"/>
            <p:cNvSpPr/>
            <p:nvPr/>
          </p:nvSpPr>
          <p:spPr>
            <a:xfrm>
              <a:off x="63500" y="0"/>
              <a:ext cx="2355801" cy="2355801"/>
            </a:xfrm>
            <a:prstGeom prst="ellipse">
              <a:avLst/>
            </a:prstGeom>
            <a:noFill/>
            <a:ln w="1270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97" name="Line"/>
            <p:cNvSpPr/>
            <p:nvPr/>
          </p:nvSpPr>
          <p:spPr>
            <a:xfrm flipV="1">
              <a:off x="1241400" y="2340865"/>
              <a:ext cx="1" cy="1714040"/>
            </a:xfrm>
            <a:prstGeom prst="line">
              <a:avLst/>
            </a:prstGeom>
            <a:noFill/>
            <a:ln w="139700" cap="flat">
              <a:solidFill>
                <a:srgbClr val="FFFFFF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99" name="What about writing them as vectors?"/>
          <p:cNvSpPr txBox="1"/>
          <p:nvPr/>
        </p:nvSpPr>
        <p:spPr>
          <a:xfrm>
            <a:off x="1767577" y="8024283"/>
            <a:ext cx="20848846" cy="1161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What about writing them as vectors?</a:t>
            </a:r>
          </a:p>
        </p:txBody>
      </p:sp>
      <p:sp>
        <p:nvSpPr>
          <p:cNvPr id="300" name="Text"/>
          <p:cNvSpPr txBox="1"/>
          <p:nvPr/>
        </p:nvSpPr>
        <p:spPr>
          <a:xfrm>
            <a:off x="8105911" y="1402962"/>
            <a:ext cx="8172178" cy="1947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3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14:m>
              <m:oMathPara>
                <m:oMathParaPr>
                  <m:jc m:val="center"/>
                </m:oMathParaPr>
                <m:oMath>
                  <m:d>
                    <m:dPr>
                      <m:ctrlPr>
                        <a:rPr xmlns:a="http://schemas.openxmlformats.org/drawingml/2006/main" sz="53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3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m:rPr>
                              <m:nor/>
                            </m:rPr>
                            <a:rPr xmlns:a="http://schemas.openxmlformats.org/drawingml/2006/main" sz="53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Top entry is 1: is Heads.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xmlns:a="http://schemas.openxmlformats.org/drawingml/2006/main" sz="53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Bottom entry is 1: is Tails.</m:t>
                          </m:r>
                        </m:e>
                      </m:eqArr>
                    </m:e>
                  </m:d>
                </m:oMath>
              </m:oMathPara>
            </a14:m>
          </a:p>
        </p:txBody>
      </p:sp>
      <p:sp>
        <p:nvSpPr>
          <p:cNvPr id="301" name="8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8" grpId="2"/>
      <p:bldP build="whole" bldLvl="1" animBg="1" rev="0" advAuto="0" spid="29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presenting coins in bina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Representing coins in binary</a:t>
            </a:r>
          </a:p>
        </p:txBody>
      </p:sp>
      <p:sp>
        <p:nvSpPr>
          <p:cNvPr id="304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5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09" name="Group"/>
          <p:cNvGrpSpPr/>
          <p:nvPr/>
        </p:nvGrpSpPr>
        <p:grpSpPr>
          <a:xfrm>
            <a:off x="1079878" y="2644418"/>
            <a:ext cx="5818145" cy="6835806"/>
            <a:chOff x="0" y="-465084"/>
            <a:chExt cx="5818143" cy="6835804"/>
          </a:xfrm>
        </p:grpSpPr>
        <p:sp>
          <p:nvSpPr>
            <p:cNvPr id="306" name="Equation"/>
            <p:cNvSpPr txBox="1"/>
            <p:nvPr/>
          </p:nvSpPr>
          <p:spPr>
            <a:xfrm>
              <a:off x="420740" y="1482017"/>
              <a:ext cx="5037359" cy="19057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914400" latinLnBrk="1">
                <a:lnSpc>
                  <a:spcPct val="100000"/>
                </a:lnSpc>
                <a:spcBef>
                  <a:spcPts val="0"/>
                </a:spcBef>
                <a:defRPr sz="1800"/>
              </a:pPr>
              <a14:m>
                <m:oMathPara>
                  <m:oMathParaPr>
                    <m:jc m:val="centerGroup"/>
                  </m:oMathParaPr>
                  <m:oMath>
                    <m:r>
                      <a:rPr xmlns:a="http://schemas.openxmlformats.org/drawingml/2006/main" sz="6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6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xmlns:a="http://schemas.openxmlformats.org/drawingml/2006/main" sz="6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r>
                      <a:rPr xmlns:a="http://schemas.openxmlformats.org/drawingml/2006/main" sz="6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6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m:oMathPara>
              </a14:m>
              <a:endParaRPr sz="6100">
                <a:solidFill>
                  <a:srgbClr val="FFFFFF"/>
                </a:solidFill>
              </a:endParaRPr>
            </a:p>
          </p:txBody>
        </p:sp>
        <p:sp>
          <p:nvSpPr>
            <p:cNvPr id="307" name="Equation"/>
            <p:cNvSpPr txBox="1"/>
            <p:nvPr/>
          </p:nvSpPr>
          <p:spPr>
            <a:xfrm>
              <a:off x="454459" y="4464958"/>
              <a:ext cx="4535180" cy="19057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914400" latinLnBrk="1">
                <a:lnSpc>
                  <a:spcPct val="100000"/>
                </a:lnSpc>
                <a:spcBef>
                  <a:spcPts val="0"/>
                </a:spcBef>
                <a:defRPr sz="1800"/>
              </a:pPr>
              <a14:m>
                <m:oMathPara>
                  <m:oMathParaPr>
                    <m:jc m:val="centerGroup"/>
                  </m:oMathParaPr>
                  <m:oMath>
                    <m:r>
                      <a:rPr xmlns:a="http://schemas.openxmlformats.org/drawingml/2006/main" sz="6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6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xmlns:a="http://schemas.openxmlformats.org/drawingml/2006/main" sz="61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xmlns:a="http://schemas.openxmlformats.org/drawingml/2006/main" sz="6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61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m:oMathPara>
              </a14:m>
              <a:endParaRPr sz="6100">
                <a:solidFill>
                  <a:srgbClr val="FFFFFF"/>
                </a:solidFill>
              </a:endParaRPr>
            </a:p>
          </p:txBody>
        </p:sp>
        <p:sp>
          <p:nvSpPr>
            <p:cNvPr id="308" name="Our chosen encoding"/>
            <p:cNvSpPr txBox="1"/>
            <p:nvPr/>
          </p:nvSpPr>
          <p:spPr>
            <a:xfrm>
              <a:off x="0" y="-465085"/>
              <a:ext cx="5818144" cy="19843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Our chosen encoding</a:t>
              </a:r>
            </a:p>
          </p:txBody>
        </p:sp>
      </p:grpSp>
      <p:sp>
        <p:nvSpPr>
          <p:cNvPr id="310" name="Coin 1"/>
          <p:cNvSpPr txBox="1"/>
          <p:nvPr/>
        </p:nvSpPr>
        <p:spPr>
          <a:xfrm>
            <a:off x="12972088" y="2736140"/>
            <a:ext cx="2567367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Coin 1</a:t>
            </a:r>
          </a:p>
        </p:txBody>
      </p:sp>
      <p:sp>
        <p:nvSpPr>
          <p:cNvPr id="311" name="Coin 2"/>
          <p:cNvSpPr txBox="1"/>
          <p:nvPr/>
        </p:nvSpPr>
        <p:spPr>
          <a:xfrm>
            <a:off x="15801883" y="2736140"/>
            <a:ext cx="256736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Coin 2</a:t>
            </a:r>
          </a:p>
        </p:txBody>
      </p:sp>
      <p:grpSp>
        <p:nvGrpSpPr>
          <p:cNvPr id="315" name="Group"/>
          <p:cNvGrpSpPr/>
          <p:nvPr/>
        </p:nvGrpSpPr>
        <p:grpSpPr>
          <a:xfrm>
            <a:off x="9167403" y="4116217"/>
            <a:ext cx="9007453" cy="2231183"/>
            <a:chOff x="0" y="0"/>
            <a:chExt cx="9007451" cy="2231182"/>
          </a:xfrm>
        </p:grpSpPr>
        <p:pic>
          <p:nvPicPr>
            <p:cNvPr id="312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49875" b="0"/>
            <a:stretch>
              <a:fillRect/>
            </a:stretch>
          </p:blipFill>
          <p:spPr>
            <a:xfrm>
              <a:off x="3969973" y="0"/>
              <a:ext cx="2236722" cy="2231183"/>
            </a:xfrm>
            <a:prstGeom prst="rect">
              <a:avLst/>
            </a:prstGeom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</p:pic>
        <p:pic>
          <p:nvPicPr>
            <p:cNvPr id="313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1175" t="0" r="0" b="0"/>
            <a:stretch>
              <a:fillRect/>
            </a:stretch>
          </p:blipFill>
          <p:spPr>
            <a:xfrm>
              <a:off x="6828741" y="0"/>
              <a:ext cx="2178711" cy="2231183"/>
            </a:xfrm>
            <a:prstGeom prst="rect">
              <a:avLst/>
            </a:prstGeom>
            <a:ln w="76200" cap="flat">
              <a:solidFill>
                <a:srgbClr val="FFFFFF"/>
              </a:solidFill>
              <a:prstDash val="solid"/>
              <a:miter lim="400000"/>
            </a:ln>
            <a:effectLst/>
          </p:spPr>
        </p:pic>
        <p:sp>
          <p:nvSpPr>
            <p:cNvPr id="314" name="Pictorial"/>
            <p:cNvSpPr txBox="1"/>
            <p:nvPr/>
          </p:nvSpPr>
          <p:spPr>
            <a:xfrm>
              <a:off x="0" y="683815"/>
              <a:ext cx="256736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Pictorial</a:t>
              </a:r>
            </a:p>
          </p:txBody>
        </p:sp>
      </p:grpSp>
      <p:grpSp>
        <p:nvGrpSpPr>
          <p:cNvPr id="319" name="Group"/>
          <p:cNvGrpSpPr/>
          <p:nvPr/>
        </p:nvGrpSpPr>
        <p:grpSpPr>
          <a:xfrm>
            <a:off x="9167404" y="7222190"/>
            <a:ext cx="9201847" cy="863601"/>
            <a:chOff x="0" y="0"/>
            <a:chExt cx="9201846" cy="863600"/>
          </a:xfrm>
        </p:grpSpPr>
        <p:sp>
          <p:nvSpPr>
            <p:cNvPr id="316" name="0"/>
            <p:cNvSpPr txBox="1"/>
            <p:nvPr/>
          </p:nvSpPr>
          <p:spPr>
            <a:xfrm>
              <a:off x="3804684" y="-1"/>
              <a:ext cx="256736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317" name="1"/>
            <p:cNvSpPr txBox="1"/>
            <p:nvPr/>
          </p:nvSpPr>
          <p:spPr>
            <a:xfrm>
              <a:off x="6634479" y="-1"/>
              <a:ext cx="2567368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318" name="Binary"/>
            <p:cNvSpPr txBox="1"/>
            <p:nvPr/>
          </p:nvSpPr>
          <p:spPr>
            <a:xfrm>
              <a:off x="0" y="0"/>
              <a:ext cx="256736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Binary</a:t>
              </a:r>
            </a:p>
          </p:txBody>
        </p:sp>
      </p:grpSp>
      <p:grpSp>
        <p:nvGrpSpPr>
          <p:cNvPr id="324" name="Group"/>
          <p:cNvGrpSpPr/>
          <p:nvPr/>
        </p:nvGrpSpPr>
        <p:grpSpPr>
          <a:xfrm>
            <a:off x="9167404" y="8922432"/>
            <a:ext cx="9201847" cy="1604721"/>
            <a:chOff x="0" y="0"/>
            <a:chExt cx="9201846" cy="1604719"/>
          </a:xfrm>
        </p:grpSpPr>
        <p:sp>
          <p:nvSpPr>
            <p:cNvPr id="320" name="Text"/>
            <p:cNvSpPr txBox="1"/>
            <p:nvPr/>
          </p:nvSpPr>
          <p:spPr>
            <a:xfrm>
              <a:off x="3804684" y="0"/>
              <a:ext cx="2567367" cy="1604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d>
                      <m:dPr>
                        <m:ctrlPr>
                          <a:rPr xmlns:a="http://schemas.openxmlformats.org/drawingml/2006/main" sz="4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xmlns:a="http://schemas.openxmlformats.org/drawingml/2006/main" sz="4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xmlns:a="http://schemas.openxmlformats.org/drawingml/2006/main" sz="4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xmlns:a="http://schemas.openxmlformats.org/drawingml/2006/main" sz="4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m:oMathPara>
              </a14:m>
            </a:p>
          </p:txBody>
        </p:sp>
        <p:sp>
          <p:nvSpPr>
            <p:cNvPr id="321" name="Text"/>
            <p:cNvSpPr txBox="1"/>
            <p:nvPr/>
          </p:nvSpPr>
          <p:spPr>
            <a:xfrm>
              <a:off x="6634479" y="0"/>
              <a:ext cx="2567368" cy="1604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d>
                      <m:dPr>
                        <m:ctrlPr>
                          <a:rPr xmlns:a="http://schemas.openxmlformats.org/drawingml/2006/main" sz="48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xmlns:a="http://schemas.openxmlformats.org/drawingml/2006/main" sz="4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xmlns:a="http://schemas.openxmlformats.org/drawingml/2006/main" sz="4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xmlns:a="http://schemas.openxmlformats.org/drawingml/2006/main" sz="4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m:oMathPara>
              </a14:m>
            </a:p>
          </p:txBody>
        </p:sp>
        <p:sp>
          <p:nvSpPr>
            <p:cNvPr id="322" name="Vector"/>
            <p:cNvSpPr txBox="1"/>
            <p:nvPr/>
          </p:nvSpPr>
          <p:spPr>
            <a:xfrm>
              <a:off x="0" y="370559"/>
              <a:ext cx="2567367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Vector</a:t>
              </a:r>
            </a:p>
          </p:txBody>
        </p:sp>
        <p:sp>
          <p:nvSpPr>
            <p:cNvPr id="323" name="Text"/>
            <p:cNvSpPr txBox="1"/>
            <p:nvPr/>
          </p:nvSpPr>
          <p:spPr>
            <a:xfrm>
              <a:off x="6188739" y="334231"/>
              <a:ext cx="648782" cy="9362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48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⊗</m:t>
                    </m:r>
                  </m:oMath>
                </m:oMathPara>
              </a14:m>
            </a:p>
          </p:txBody>
        </p:sp>
      </p:grpSp>
      <p:grpSp>
        <p:nvGrpSpPr>
          <p:cNvPr id="327" name="Group"/>
          <p:cNvGrpSpPr/>
          <p:nvPr/>
        </p:nvGrpSpPr>
        <p:grpSpPr>
          <a:xfrm>
            <a:off x="15680534" y="8223152"/>
            <a:ext cx="7490882" cy="1933441"/>
            <a:chOff x="0" y="0"/>
            <a:chExt cx="7490880" cy="1933439"/>
          </a:xfrm>
        </p:grpSpPr>
        <p:sp>
          <p:nvSpPr>
            <p:cNvPr id="329" name="Connection Line"/>
            <p:cNvSpPr/>
            <p:nvPr/>
          </p:nvSpPr>
          <p:spPr>
            <a:xfrm>
              <a:off x="0" y="-1"/>
              <a:ext cx="5271193" cy="1501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314" fill="norm" stroke="1" extrusionOk="0">
                  <a:moveTo>
                    <a:pt x="0" y="16314"/>
                  </a:moveTo>
                  <a:cubicBezTo>
                    <a:pt x="6944" y="-3618"/>
                    <a:pt x="14144" y="-5286"/>
                    <a:pt x="21600" y="11310"/>
                  </a:cubicBezTo>
                </a:path>
              </a:pathLst>
            </a:custGeom>
            <a:noFill/>
            <a:ln w="88900" cap="flat">
              <a:solidFill>
                <a:srgbClr val="FFFFFF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326" name="Tensor product."/>
            <p:cNvSpPr txBox="1"/>
            <p:nvPr/>
          </p:nvSpPr>
          <p:spPr>
            <a:xfrm>
              <a:off x="3045981" y="1069839"/>
              <a:ext cx="4444900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Tensor product.</a:t>
              </a:r>
            </a:p>
          </p:txBody>
        </p:sp>
      </p:grpSp>
      <p:sp>
        <p:nvSpPr>
          <p:cNvPr id="328" name="9"/>
          <p:cNvSpPr txBox="1"/>
          <p:nvPr/>
        </p:nvSpPr>
        <p:spPr>
          <a:xfrm>
            <a:off x="814536" y="12461551"/>
            <a:ext cx="32613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3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3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3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3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3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3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10" grpId="2"/>
      <p:bldP build="whole" bldLvl="1" animBg="1" rev="0" advAuto="0" spid="315" grpId="4"/>
      <p:bldP build="whole" bldLvl="1" animBg="1" rev="0" advAuto="0" spid="319" grpId="5"/>
      <p:bldP build="whole" bldLvl="1" animBg="1" rev="0" advAuto="0" spid="311" grpId="3"/>
      <p:bldP build="whole" bldLvl="1" animBg="1" rev="0" advAuto="0" spid="324" grpId="6"/>
      <p:bldP build="whole" bldLvl="1" animBg="1" rev="0" advAuto="0" spid="327" grpId="7"/>
      <p:bldP build="whole" bldLvl="1" animBg="1" rev="0" advAuto="0" spid="30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luing vectors togeth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Gluing vectors together</a:t>
            </a:r>
          </a:p>
        </p:txBody>
      </p:sp>
      <p:sp>
        <p:nvSpPr>
          <p:cNvPr id="332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3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4" name="is the 'tensor product', a kind of glue for vectors, sticking them together and making a resultant vector with a larger dimension."/>
          <p:cNvSpPr txBox="1"/>
          <p:nvPr/>
        </p:nvSpPr>
        <p:spPr>
          <a:xfrm>
            <a:off x="1231381" y="2479981"/>
            <a:ext cx="16064366" cy="5087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7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14:m>
              <m:oMath>
                <m:r>
                  <a:rPr xmlns:a="http://schemas.openxmlformats.org/drawingml/2006/main" sz="76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⊗</m:t>
                </m:r>
              </m:oMath>
            </a14:m>
            <a:r>
              <a:t> is the 'tensor product', a kind of glue for vectors, sticking them together and making a resultant vector with a larger dimension.</a:t>
            </a:r>
          </a:p>
        </p:txBody>
      </p:sp>
      <p:grpSp>
        <p:nvGrpSpPr>
          <p:cNvPr id="337" name="Group"/>
          <p:cNvGrpSpPr/>
          <p:nvPr/>
        </p:nvGrpSpPr>
        <p:grpSpPr>
          <a:xfrm>
            <a:off x="1236330" y="7848600"/>
            <a:ext cx="16214947" cy="3214282"/>
            <a:chOff x="0" y="0"/>
            <a:chExt cx="16214946" cy="3214281"/>
          </a:xfrm>
        </p:grpSpPr>
        <p:sp>
          <p:nvSpPr>
            <p:cNvPr id="335" name="Rectangle"/>
            <p:cNvSpPr/>
            <p:nvPr/>
          </p:nvSpPr>
          <p:spPr>
            <a:xfrm>
              <a:off x="0" y="0"/>
              <a:ext cx="16214947" cy="321428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pic>
          <p:nvPicPr>
            <p:cNvPr id="336" name="de771953ffc0e58b285bac45a73490aea3406eb3.svg" descr="de771953ffc0e58b285bac45a73490aea3406eb3.sv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6502" y="595987"/>
              <a:ext cx="15781943" cy="20223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8" name="10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3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7" grpId="2"/>
      <p:bldP build="whole" bldLvl="1" animBg="1" rev="0" advAuto="0" spid="33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luing vectors togeth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Gluing vectors together</a:t>
            </a:r>
          </a:p>
        </p:txBody>
      </p:sp>
      <p:sp>
        <p:nvSpPr>
          <p:cNvPr id="341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2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3" name="Text"/>
          <p:cNvSpPr txBox="1"/>
          <p:nvPr/>
        </p:nvSpPr>
        <p:spPr>
          <a:xfrm>
            <a:off x="1231381" y="2913141"/>
            <a:ext cx="8871293" cy="4371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7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d>
                    <m:dPr>
                      <m:ctrlPr>
                        <a:rPr xmlns:a="http://schemas.openxmlformats.org/drawingml/2006/main" sz="59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eqArr>
                    </m:e>
                  </m:d>
                  <m:r>
                    <a:rPr xmlns:a="http://schemas.openxmlformats.org/drawingml/2006/main" sz="59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⊗</m:t>
                  </m:r>
                  <m:d>
                    <m:dPr>
                      <m:ctrlPr>
                        <a:rPr xmlns:a="http://schemas.openxmlformats.org/drawingml/2006/main" sz="59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eqArr>
                    </m:e>
                  </m:d>
                  <m:r>
                    <a:rPr xmlns:a="http://schemas.openxmlformats.org/drawingml/2006/main" sz="59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9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eqArr>
                    </m:e>
                  </m:d>
                </m:oMath>
              </m:oMathPara>
            </a14:m>
          </a:p>
        </p:txBody>
      </p:sp>
      <p:sp>
        <p:nvSpPr>
          <p:cNvPr id="344" name="With two coins, the tensor product gives us the overall state of those two coins!"/>
          <p:cNvSpPr txBox="1"/>
          <p:nvPr/>
        </p:nvSpPr>
        <p:spPr>
          <a:xfrm>
            <a:off x="10947176" y="3219522"/>
            <a:ext cx="12574229" cy="375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7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With two coins, the tensor product gives us the overall state of those two coins!</a:t>
            </a:r>
          </a:p>
        </p:txBody>
      </p:sp>
      <p:sp>
        <p:nvSpPr>
          <p:cNvPr id="345" name="How many possible states of N coins?…"/>
          <p:cNvSpPr txBox="1"/>
          <p:nvPr/>
        </p:nvSpPr>
        <p:spPr>
          <a:xfrm>
            <a:off x="1464168" y="8429081"/>
            <a:ext cx="21455664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How many possible states of N coins?</a:t>
            </a:r>
          </a:p>
          <a:p>
            <a:pPr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How many rows in the tensor product of N coins?</a:t>
            </a:r>
          </a:p>
        </p:txBody>
      </p:sp>
      <p:sp>
        <p:nvSpPr>
          <p:cNvPr id="346" name="11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3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3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5" grpId="3"/>
      <p:bldP build="whole" bldLvl="1" animBg="1" rev="0" advAuto="0" spid="343" grpId="1"/>
      <p:bldP build="whole" bldLvl="1" animBg="1" rev="0" advAuto="0" spid="344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luing vectors togeth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Gluing vectors together</a:t>
            </a:r>
          </a:p>
        </p:txBody>
      </p:sp>
      <p:sp>
        <p:nvSpPr>
          <p:cNvPr id="349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0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1" name="Text"/>
          <p:cNvSpPr txBox="1"/>
          <p:nvPr/>
        </p:nvSpPr>
        <p:spPr>
          <a:xfrm>
            <a:off x="1231381" y="2913141"/>
            <a:ext cx="8871293" cy="4371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7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d>
                    <m:dPr>
                      <m:ctrlPr>
                        <a:rPr xmlns:a="http://schemas.openxmlformats.org/drawingml/2006/main" sz="59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eqArr>
                    </m:e>
                  </m:d>
                  <m:r>
                    <a:rPr xmlns:a="http://schemas.openxmlformats.org/drawingml/2006/main" sz="59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⊗</m:t>
                  </m:r>
                  <m:d>
                    <m:dPr>
                      <m:ctrlPr>
                        <a:rPr xmlns:a="http://schemas.openxmlformats.org/drawingml/2006/main" sz="59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eqArr>
                    </m:e>
                  </m:d>
                  <m:r>
                    <a:rPr xmlns:a="http://schemas.openxmlformats.org/drawingml/2006/main" sz="59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9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xmlns:a="http://schemas.openxmlformats.org/drawingml/2006/main" sz="59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e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argPr>
                                <m:scrLvl m:val="0"/>
                              </m:argPr>
                              <m:r>
                                <a:rPr xmlns:a="http://schemas.openxmlformats.org/drawingml/2006/main" sz="59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eqArr>
                    </m:e>
                  </m:d>
                </m:oMath>
              </m:oMathPara>
            </a14:m>
          </a:p>
        </p:txBody>
      </p:sp>
      <p:sp>
        <p:nvSpPr>
          <p:cNvPr id="352" name="12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Naming vectors for ea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Naming vectors for ease</a:t>
            </a:r>
          </a:p>
        </p:txBody>
      </p:sp>
      <p:sp>
        <p:nvSpPr>
          <p:cNvPr id="355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6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7" name="Text"/>
          <p:cNvSpPr txBox="1"/>
          <p:nvPr/>
        </p:nvSpPr>
        <p:spPr>
          <a:xfrm>
            <a:off x="1231381" y="3951826"/>
            <a:ext cx="8871293" cy="229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7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7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7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xmlns:a="http://schemas.openxmlformats.org/drawingml/2006/main" sz="7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eqArr>
                    </m:e>
                  </m:d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7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7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xmlns:a="http://schemas.openxmlformats.org/drawingml/2006/main" sz="7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eqArr>
                    </m:e>
                  </m:d>
                </m:oMath>
              </m:oMathPara>
            </a14:m>
          </a:p>
        </p:txBody>
      </p:sp>
      <p:sp>
        <p:nvSpPr>
          <p:cNvPr id="358" name="For ease, we can label vectors using this braket, or Dirac, notation."/>
          <p:cNvSpPr txBox="1"/>
          <p:nvPr/>
        </p:nvSpPr>
        <p:spPr>
          <a:xfrm>
            <a:off x="10947176" y="3219522"/>
            <a:ext cx="12574229" cy="375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 sz="7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For ease, we can label vectors using this </a:t>
            </a:r>
            <a:r>
              <a:rPr>
                <a:latin typeface="Avenir Heavy"/>
                <a:ea typeface="Avenir Heavy"/>
                <a:cs typeface="Avenir Heavy"/>
                <a:sym typeface="Avenir Heavy"/>
              </a:rPr>
              <a:t>braket, or Dirac, notation.</a:t>
            </a:r>
          </a:p>
        </p:txBody>
      </p:sp>
      <p:sp>
        <p:nvSpPr>
          <p:cNvPr id="359" name="Equation"/>
          <p:cNvSpPr txBox="1"/>
          <p:nvPr/>
        </p:nvSpPr>
        <p:spPr>
          <a:xfrm>
            <a:off x="3256410" y="7596254"/>
            <a:ext cx="716352" cy="5880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grpSp>
        <p:nvGrpSpPr>
          <p:cNvPr id="365" name="Group"/>
          <p:cNvGrpSpPr/>
          <p:nvPr/>
        </p:nvGrpSpPr>
        <p:grpSpPr>
          <a:xfrm>
            <a:off x="2557740" y="7458458"/>
            <a:ext cx="18929719" cy="3037743"/>
            <a:chOff x="0" y="0"/>
            <a:chExt cx="18929717" cy="3037742"/>
          </a:xfrm>
        </p:grpSpPr>
        <p:sp>
          <p:nvSpPr>
            <p:cNvPr id="360" name="a ket"/>
            <p:cNvSpPr txBox="1"/>
            <p:nvPr/>
          </p:nvSpPr>
          <p:spPr>
            <a:xfrm>
              <a:off x="1766719" y="-1"/>
              <a:ext cx="4435173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a ket</a:t>
              </a:r>
            </a:p>
          </p:txBody>
        </p:sp>
        <p:sp>
          <p:nvSpPr>
            <p:cNvPr id="361" name="Equation"/>
            <p:cNvSpPr txBox="1"/>
            <p:nvPr/>
          </p:nvSpPr>
          <p:spPr>
            <a:xfrm>
              <a:off x="715353" y="1128939"/>
              <a:ext cx="867552" cy="5880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914400" latinLnBrk="1">
                <a:lnSpc>
                  <a:spcPct val="100000"/>
                </a:lnSpc>
                <a:spcBef>
                  <a:spcPts val="0"/>
                </a:spcBef>
                <a:defRPr sz="1800"/>
              </a:pPr>
              <a14:m>
                <m:oMathPara>
                  <m:oMathParaPr>
                    <m:jc m:val="centerGroup"/>
                  </m:oMathParaPr>
                  <m:oMath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m:oMathPara>
              </a14:m>
              <a:endParaRPr sz="5000">
                <a:solidFill>
                  <a:srgbClr val="FFFFFF"/>
                </a:solidFill>
              </a:endParaRPr>
            </a:p>
          </p:txBody>
        </p:sp>
        <p:sp>
          <p:nvSpPr>
            <p:cNvPr id="362" name="a bra"/>
            <p:cNvSpPr txBox="1"/>
            <p:nvPr/>
          </p:nvSpPr>
          <p:spPr>
            <a:xfrm>
              <a:off x="1783402" y="991144"/>
              <a:ext cx="4435173" cy="863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4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a bra</a:t>
              </a:r>
            </a:p>
          </p:txBody>
        </p:sp>
        <p:sp>
          <p:nvSpPr>
            <p:cNvPr id="363" name="Equation"/>
            <p:cNvSpPr txBox="1"/>
            <p:nvPr/>
          </p:nvSpPr>
          <p:spPr>
            <a:xfrm>
              <a:off x="0" y="2120084"/>
              <a:ext cx="5557511" cy="9176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defTabSz="914400" latinLnBrk="1">
                <a:lnSpc>
                  <a:spcPct val="100000"/>
                </a:lnSpc>
                <a:spcBef>
                  <a:spcPts val="0"/>
                </a:spcBef>
                <a:defRPr sz="1800"/>
              </a:pPr>
              <a14:m>
                <m:oMathPara>
                  <m:oMathParaPr>
                    <m:jc m:val="centerGroup"/>
                  </m:oMathParaPr>
                  <m:oMath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a</m:t>
                    </m:r>
                    <m:sSup>
                      <m:e>
                        <m:r>
                          <a:rPr xmlns:a="http://schemas.openxmlformats.org/drawingml/2006/main" sz="50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  <m:sup>
                        <m:r>
                          <a:rPr xmlns:a="http://schemas.openxmlformats.org/drawingml/2006/main" sz="50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xmlns:a="http://schemas.openxmlformats.org/drawingml/2006/main" sz="5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ctrlPr>
                              <a:rPr xmlns:a="http://schemas.openxmlformats.org/drawingml/2006/main" sz="5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xmlns:a="http://schemas.openxmlformats.org/drawingml/2006/main" sz="5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xmlns:a="http://schemas.openxmlformats.org/drawingml/2006/main" sz="5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sSup>
                              <m:e>
                                <m:r>
                                  <a:rPr xmlns:a="http://schemas.openxmlformats.org/drawingml/2006/main" sz="5000" i="1">
                                    <a:solidFill>
                                      <a:srgbClr val="FEFFFE"/>
                                    </a:solidFill>
                                    <a:latin typeface="Cambria Math" panose="02040503050406030204" pitchFamily="18" charset="0"/>
                                  </a:rPr>
                                  <m:t>⟩</m:t>
                                </m:r>
                              </m:e>
                              <m:sup>
                                <m:r>
                                  <a:rPr xmlns:a="http://schemas.openxmlformats.org/drawingml/2006/main" sz="5000" i="1">
                                    <a:solidFill>
                                      <a:srgbClr val="FEFFFE"/>
                                    </a:solidFill>
                                    <a:latin typeface="Cambria Math" panose="02040503050406030204" pitchFamily="18" charset="0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xmlns:a="http://schemas.openxmlformats.org/drawingml/2006/main" sz="500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m:oMathPara>
              </a14:m>
              <a:endParaRPr sz="5000">
                <a:solidFill>
                  <a:srgbClr val="FFFFFF"/>
                </a:solidFill>
              </a:endParaRPr>
            </a:p>
          </p:txBody>
        </p:sp>
        <p:sp>
          <p:nvSpPr>
            <p:cNvPr id="364" name="Anything goes in bras and kets:"/>
            <p:cNvSpPr txBox="1"/>
            <p:nvPr/>
          </p:nvSpPr>
          <p:spPr>
            <a:xfrm>
              <a:off x="8316815" y="374233"/>
              <a:ext cx="10612903" cy="20974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defRPr sz="55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pPr>
              <a:r>
                <a:t>Anything goes in bras and kets: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defRPr sz="55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pPr>
              <a14:m>
                <m:oMathPara>
                  <m:oMathParaPr>
                    <m:jc m:val="left"/>
                  </m:oMathParaPr>
                  <m:oMath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600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</p:grpSp>
      <p:sp>
        <p:nvSpPr>
          <p:cNvPr id="366" name="13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3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3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7" grpId="1"/>
      <p:bldP build="whole" bldLvl="1" animBg="1" rev="0" advAuto="0" spid="358" grpId="2"/>
      <p:bldP build="whole" bldLvl="1" animBg="1" rev="0" advAuto="0" spid="365" grpId="3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Braket no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Braket notation</a:t>
            </a:r>
          </a:p>
        </p:txBody>
      </p:sp>
      <p:sp>
        <p:nvSpPr>
          <p:cNvPr id="369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0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1" name="Equation"/>
          <p:cNvSpPr txBox="1"/>
          <p:nvPr/>
        </p:nvSpPr>
        <p:spPr>
          <a:xfrm>
            <a:off x="8310498" y="4184153"/>
            <a:ext cx="2707429" cy="15621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eqArr>
                    </m:e>
                  </m:d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sp>
        <p:nvSpPr>
          <p:cNvPr id="372" name="Equation"/>
          <p:cNvSpPr txBox="1"/>
          <p:nvPr/>
        </p:nvSpPr>
        <p:spPr>
          <a:xfrm>
            <a:off x="12684677" y="4671198"/>
            <a:ext cx="1901967" cy="5880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?</m:t>
                  </m:r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sp>
        <p:nvSpPr>
          <p:cNvPr id="373" name="Equation"/>
          <p:cNvSpPr txBox="1"/>
          <p:nvPr/>
        </p:nvSpPr>
        <p:spPr>
          <a:xfrm>
            <a:off x="8733377" y="8468220"/>
            <a:ext cx="5557512" cy="91765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sSup>
                    <m:e>
                      <m: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e>
                    <m:sup>
                      <m: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sup>
                  </m:sSup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d>
                        <m:d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sSup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  <m:sup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*</m:t>
                              </m:r>
                            </m:sup>
                          </m:sSup>
                        </m:e>
                      </m:d>
                    </m:e>
                    <m:sup>
                      <m: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p>
                  </m:sSup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sp>
        <p:nvSpPr>
          <p:cNvPr id="374" name="A few examples:"/>
          <p:cNvSpPr txBox="1"/>
          <p:nvPr/>
        </p:nvSpPr>
        <p:spPr>
          <a:xfrm>
            <a:off x="7018482" y="2868860"/>
            <a:ext cx="8987303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A few examples:</a:t>
            </a:r>
          </a:p>
        </p:txBody>
      </p:sp>
      <p:sp>
        <p:nvSpPr>
          <p:cNvPr id="375" name="Equation"/>
          <p:cNvSpPr txBox="1"/>
          <p:nvPr/>
        </p:nvSpPr>
        <p:spPr>
          <a:xfrm>
            <a:off x="7197352" y="6461164"/>
            <a:ext cx="3747560" cy="117157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m:rPr>
                      <m:nor/>
                    </m:rP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Huh?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eqArr>
                    </m:e>
                  </m:d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sp>
        <p:nvSpPr>
          <p:cNvPr id="376" name="Equation"/>
          <p:cNvSpPr txBox="1"/>
          <p:nvPr/>
        </p:nvSpPr>
        <p:spPr>
          <a:xfrm>
            <a:off x="12711467" y="6747231"/>
            <a:ext cx="3101482" cy="59944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m:rPr>
                      <m:nor/>
                    </m:rP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Huh?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?</m:t>
                  </m:r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sp>
        <p:nvSpPr>
          <p:cNvPr id="377" name="14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Braket notation conveys meaning about vector structure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20">
              <a:defRPr spc="-130" sz="6544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Braket notation conveys meaning about vector structure.</a:t>
            </a:r>
          </a:p>
        </p:txBody>
      </p:sp>
      <p:sp>
        <p:nvSpPr>
          <p:cNvPr id="380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1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2" name="Equation"/>
          <p:cNvSpPr txBox="1"/>
          <p:nvPr/>
        </p:nvSpPr>
        <p:spPr>
          <a:xfrm>
            <a:off x="1770293" y="3018742"/>
            <a:ext cx="4591711" cy="224942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72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a:rPr xmlns:a="http://schemas.openxmlformats.org/drawingml/2006/main" sz="72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a:rPr xmlns:a="http://schemas.openxmlformats.org/drawingml/2006/main" sz="72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e>
                            <m:r>
                              <a:rPr xmlns:a="http://schemas.openxmlformats.org/drawingml/2006/main" sz="72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sz="7200">
              <a:solidFill>
                <a:srgbClr val="FFFFFF"/>
              </a:solidFill>
            </a:endParaRPr>
          </a:p>
        </p:txBody>
      </p:sp>
      <p:sp>
        <p:nvSpPr>
          <p:cNvPr id="383" name="Equation"/>
          <p:cNvSpPr txBox="1"/>
          <p:nvPr/>
        </p:nvSpPr>
        <p:spPr>
          <a:xfrm>
            <a:off x="1803212" y="5943287"/>
            <a:ext cx="3693872" cy="16870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ψ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eqArr>
                    </m:e>
                  </m:d>
                </m:oMath>
              </m:oMathPara>
            </a14:m>
            <a:endParaRPr sz="7200">
              <a:solidFill>
                <a:srgbClr val="FFFFFF"/>
              </a:solidFill>
            </a:endParaRPr>
          </a:p>
        </p:txBody>
      </p:sp>
      <p:sp>
        <p:nvSpPr>
          <p:cNvPr id="384" name="Equation"/>
          <p:cNvSpPr txBox="1"/>
          <p:nvPr/>
        </p:nvSpPr>
        <p:spPr>
          <a:xfrm>
            <a:off x="9592335" y="4766159"/>
            <a:ext cx="3716237" cy="190576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6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e>
                            <m:r>
                              <a:rPr xmlns:a="http://schemas.openxmlformats.org/drawingml/2006/main" sz="61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mr>
                      </m:m>
                    </m:e>
                  </m:d>
                  <m:d>
                    <m:dPr>
                      <m:ctrlPr>
                        <a:rPr xmlns:a="http://schemas.openxmlformats.org/drawingml/2006/main" sz="6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e>
                          <m: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eqArr>
                    </m:e>
                  </m:d>
                </m:oMath>
              </m:oMathPara>
            </a14:m>
            <a:endParaRPr sz="6100">
              <a:solidFill>
                <a:srgbClr val="FFFFFF"/>
              </a:solidFill>
            </a:endParaRPr>
          </a:p>
        </p:txBody>
      </p:sp>
      <p:sp>
        <p:nvSpPr>
          <p:cNvPr id="385" name="Equation"/>
          <p:cNvSpPr txBox="1"/>
          <p:nvPr/>
        </p:nvSpPr>
        <p:spPr>
          <a:xfrm>
            <a:off x="9592335" y="7344910"/>
            <a:ext cx="2493646" cy="77617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66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66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66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66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ψ</m:t>
                  </m:r>
                  <m:r>
                    <a:rPr xmlns:a="http://schemas.openxmlformats.org/drawingml/2006/main" sz="66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</m:oMath>
              </m:oMathPara>
            </a14:m>
            <a:endParaRPr sz="6600">
              <a:solidFill>
                <a:srgbClr val="FFFFFF"/>
              </a:solidFill>
            </a:endParaRPr>
          </a:p>
        </p:txBody>
      </p:sp>
      <p:sp>
        <p:nvSpPr>
          <p:cNvPr id="386" name="Line"/>
          <p:cNvSpPr/>
          <p:nvPr/>
        </p:nvSpPr>
        <p:spPr>
          <a:xfrm flipV="1">
            <a:off x="7856747" y="2982432"/>
            <a:ext cx="1" cy="775113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7" name="Equation"/>
          <p:cNvSpPr txBox="1"/>
          <p:nvPr/>
        </p:nvSpPr>
        <p:spPr>
          <a:xfrm>
            <a:off x="9611537" y="8756281"/>
            <a:ext cx="4230815" cy="203073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6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65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e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xmlns:a="http://schemas.openxmlformats.org/drawingml/2006/main" sz="6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</m:eqArr>
                    </m:e>
                  </m:d>
                </m:oMath>
              </m:oMathPara>
            </a14:m>
            <a:endParaRPr sz="6500">
              <a:solidFill>
                <a:srgbClr val="FFFFFF"/>
              </a:solidFill>
            </a:endParaRPr>
          </a:p>
        </p:txBody>
      </p:sp>
      <p:sp>
        <p:nvSpPr>
          <p:cNvPr id="388" name="Matrix-vector multiplication rewritten:"/>
          <p:cNvSpPr txBox="1"/>
          <p:nvPr/>
        </p:nvSpPr>
        <p:spPr>
          <a:xfrm>
            <a:off x="9573133" y="3004411"/>
            <a:ext cx="12848845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Matrix-vector multiplication rewritten:</a:t>
            </a:r>
          </a:p>
        </p:txBody>
      </p:sp>
      <p:sp>
        <p:nvSpPr>
          <p:cNvPr id="389" name="15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Braket notation conveys meaning about vector structure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20">
              <a:defRPr spc="-130" sz="6544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Braket notation conveys meaning about vector structure.</a:t>
            </a:r>
          </a:p>
        </p:txBody>
      </p:sp>
      <p:sp>
        <p:nvSpPr>
          <p:cNvPr id="392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3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4" name="Equation"/>
          <p:cNvSpPr txBox="1"/>
          <p:nvPr/>
        </p:nvSpPr>
        <p:spPr>
          <a:xfrm>
            <a:off x="2375168" y="2716305"/>
            <a:ext cx="3745992" cy="16870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ψ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eqArr>
                    </m:e>
                  </m:d>
                </m:oMath>
              </m:oMathPara>
            </a14:m>
            <a:endParaRPr sz="7200">
              <a:solidFill>
                <a:srgbClr val="FFFFFF"/>
              </a:solidFill>
            </a:endParaRPr>
          </a:p>
        </p:txBody>
      </p:sp>
      <p:sp>
        <p:nvSpPr>
          <p:cNvPr id="395" name="Equation"/>
          <p:cNvSpPr txBox="1"/>
          <p:nvPr/>
        </p:nvSpPr>
        <p:spPr>
          <a:xfrm>
            <a:off x="2355965" y="5224998"/>
            <a:ext cx="3784398" cy="16870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eqArr>
                    </m:e>
                  </m:d>
                </m:oMath>
              </m:oMathPara>
            </a14:m>
            <a:endParaRPr sz="7200">
              <a:solidFill>
                <a:srgbClr val="FFFFFF"/>
              </a:solidFill>
            </a:endParaRPr>
          </a:p>
        </p:txBody>
      </p:sp>
      <p:sp>
        <p:nvSpPr>
          <p:cNvPr id="396" name="Equation"/>
          <p:cNvSpPr txBox="1"/>
          <p:nvPr/>
        </p:nvSpPr>
        <p:spPr>
          <a:xfrm>
            <a:off x="9592335" y="5037848"/>
            <a:ext cx="2987589" cy="14293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6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eqArr>
                    </m:e>
                  </m:d>
                  <m:r>
                    <a:rPr xmlns:a="http://schemas.openxmlformats.org/drawingml/2006/main" sz="61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⋅</m:t>
                  </m:r>
                  <m:d>
                    <m:dPr>
                      <m:ctrlPr>
                        <a:rPr xmlns:a="http://schemas.openxmlformats.org/drawingml/2006/main" sz="61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61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eqArr>
                    </m:e>
                  </m:d>
                </m:oMath>
              </m:oMathPara>
            </a14:m>
            <a:endParaRPr sz="6100">
              <a:solidFill>
                <a:srgbClr val="FFFFFF"/>
              </a:solidFill>
            </a:endParaRPr>
          </a:p>
        </p:txBody>
      </p:sp>
      <p:sp>
        <p:nvSpPr>
          <p:cNvPr id="397" name="Equation"/>
          <p:cNvSpPr txBox="1"/>
          <p:nvPr/>
        </p:nvSpPr>
        <p:spPr>
          <a:xfrm>
            <a:off x="9592335" y="7357608"/>
            <a:ext cx="4288046" cy="154648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66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66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66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66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a:rPr xmlns:a="http://schemas.openxmlformats.org/drawingml/2006/main" sz="66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</m:m>
                    </m:e>
                  </m:d>
                  <m:d>
                    <m:dPr>
                      <m:ctrlPr>
                        <a:rPr xmlns:a="http://schemas.openxmlformats.org/drawingml/2006/main" sz="66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66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66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66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eqArr>
                    </m:e>
                  </m:d>
                </m:oMath>
              </m:oMathPara>
            </a14:m>
            <a:endParaRPr sz="6600">
              <a:solidFill>
                <a:srgbClr val="FFFFFF"/>
              </a:solidFill>
            </a:endParaRPr>
          </a:p>
        </p:txBody>
      </p:sp>
      <p:sp>
        <p:nvSpPr>
          <p:cNvPr id="398" name="Line"/>
          <p:cNvSpPr/>
          <p:nvPr/>
        </p:nvSpPr>
        <p:spPr>
          <a:xfrm flipV="1">
            <a:off x="7856747" y="2982432"/>
            <a:ext cx="1" cy="775113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99" name="Equation"/>
          <p:cNvSpPr txBox="1"/>
          <p:nvPr/>
        </p:nvSpPr>
        <p:spPr>
          <a:xfrm>
            <a:off x="9611537" y="9794524"/>
            <a:ext cx="6943091" cy="82321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ψ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d</m:t>
                  </m:r>
                </m:oMath>
              </m:oMathPara>
            </a14:m>
            <a:endParaRPr sz="7000">
              <a:solidFill>
                <a:srgbClr val="FFFFFF"/>
              </a:solidFill>
            </a:endParaRPr>
          </a:p>
        </p:txBody>
      </p:sp>
      <p:sp>
        <p:nvSpPr>
          <p:cNvPr id="400" name="The inner product rewritten:"/>
          <p:cNvSpPr txBox="1"/>
          <p:nvPr/>
        </p:nvSpPr>
        <p:spPr>
          <a:xfrm>
            <a:off x="9195735" y="2988339"/>
            <a:ext cx="9621775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The inner product rewritten:</a:t>
            </a:r>
          </a:p>
        </p:txBody>
      </p:sp>
      <p:sp>
        <p:nvSpPr>
          <p:cNvPr id="401" name="Equation"/>
          <p:cNvSpPr txBox="1"/>
          <p:nvPr/>
        </p:nvSpPr>
        <p:spPr>
          <a:xfrm>
            <a:off x="18375783" y="6738011"/>
            <a:ext cx="3539802" cy="82321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7000">
              <a:solidFill>
                <a:srgbClr val="FFFFFF"/>
              </a:solidFill>
            </a:endParaRPr>
          </a:p>
        </p:txBody>
      </p:sp>
      <p:sp>
        <p:nvSpPr>
          <p:cNvPr id="402" name="Scalar!"/>
          <p:cNvSpPr txBox="1"/>
          <p:nvPr/>
        </p:nvSpPr>
        <p:spPr>
          <a:xfrm>
            <a:off x="19464066" y="9634631"/>
            <a:ext cx="2343913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Scalar!</a:t>
            </a:r>
          </a:p>
        </p:txBody>
      </p:sp>
      <p:sp>
        <p:nvSpPr>
          <p:cNvPr id="403" name="16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Braket notation conveys meaning about vector stru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01904">
              <a:defRPr spc="-132" sz="6629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Braket notation conveys meaning about vector structure</a:t>
            </a:r>
          </a:p>
        </p:txBody>
      </p:sp>
      <p:sp>
        <p:nvSpPr>
          <p:cNvPr id="406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7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8" name="Equation"/>
          <p:cNvSpPr txBox="1"/>
          <p:nvPr/>
        </p:nvSpPr>
        <p:spPr>
          <a:xfrm>
            <a:off x="2375168" y="2716305"/>
            <a:ext cx="3745992" cy="16870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ψ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eqArr>
                    </m:e>
                  </m:d>
                </m:oMath>
              </m:oMathPara>
            </a14:m>
            <a:endParaRPr sz="7200">
              <a:solidFill>
                <a:srgbClr val="FFFFFF"/>
              </a:solidFill>
            </a:endParaRPr>
          </a:p>
        </p:txBody>
      </p:sp>
      <p:sp>
        <p:nvSpPr>
          <p:cNvPr id="409" name="Equation"/>
          <p:cNvSpPr txBox="1"/>
          <p:nvPr/>
        </p:nvSpPr>
        <p:spPr>
          <a:xfrm>
            <a:off x="2355965" y="5224998"/>
            <a:ext cx="3784398" cy="16870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7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eqArr>
                    </m:e>
                  </m:d>
                </m:oMath>
              </m:oMathPara>
            </a14:m>
            <a:endParaRPr sz="7200">
              <a:solidFill>
                <a:srgbClr val="FFFFFF"/>
              </a:solidFill>
            </a:endParaRPr>
          </a:p>
        </p:txBody>
      </p:sp>
      <p:sp>
        <p:nvSpPr>
          <p:cNvPr id="410" name="Equation"/>
          <p:cNvSpPr txBox="1"/>
          <p:nvPr/>
        </p:nvSpPr>
        <p:spPr>
          <a:xfrm>
            <a:off x="9573132" y="4734016"/>
            <a:ext cx="3473502" cy="154648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66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66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66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66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eqArr>
                    </m:e>
                  </m:d>
                  <m:d>
                    <m:dPr>
                      <m:ctrlPr>
                        <a:rPr xmlns:a="http://schemas.openxmlformats.org/drawingml/2006/main" sz="66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66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66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a:rPr xmlns:a="http://schemas.openxmlformats.org/drawingml/2006/main" sz="66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sz="6600">
              <a:solidFill>
                <a:srgbClr val="FFFFFF"/>
              </a:solidFill>
            </a:endParaRPr>
          </a:p>
        </p:txBody>
      </p:sp>
      <p:sp>
        <p:nvSpPr>
          <p:cNvPr id="411" name="Line"/>
          <p:cNvSpPr/>
          <p:nvPr/>
        </p:nvSpPr>
        <p:spPr>
          <a:xfrm flipV="1">
            <a:off x="7856747" y="2982432"/>
            <a:ext cx="1" cy="775113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12" name="Equation"/>
          <p:cNvSpPr txBox="1"/>
          <p:nvPr/>
        </p:nvSpPr>
        <p:spPr>
          <a:xfrm>
            <a:off x="9592335" y="6883172"/>
            <a:ext cx="3466311" cy="82321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ϕ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⟨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ψ</m:t>
                  </m:r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</m:oMath>
              </m:oMathPara>
            </a14:m>
            <a:endParaRPr sz="7000">
              <a:solidFill>
                <a:srgbClr val="FFFFFF"/>
              </a:solidFill>
            </a:endParaRPr>
          </a:p>
        </p:txBody>
      </p:sp>
      <p:sp>
        <p:nvSpPr>
          <p:cNvPr id="413" name="The outer product rewritten:"/>
          <p:cNvSpPr txBox="1"/>
          <p:nvPr/>
        </p:nvSpPr>
        <p:spPr>
          <a:xfrm>
            <a:off x="9146586" y="2988339"/>
            <a:ext cx="9720073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The outer product rewritten:</a:t>
            </a:r>
          </a:p>
        </p:txBody>
      </p:sp>
      <p:sp>
        <p:nvSpPr>
          <p:cNvPr id="414" name="Equation"/>
          <p:cNvSpPr txBox="1"/>
          <p:nvPr/>
        </p:nvSpPr>
        <p:spPr>
          <a:xfrm>
            <a:off x="9592335" y="8613843"/>
            <a:ext cx="4475029" cy="218694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70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7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7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7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xmlns:a="http://schemas.openxmlformats.org/drawingml/2006/main" sz="7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a:rPr xmlns:a="http://schemas.openxmlformats.org/drawingml/2006/main" sz="7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xmlns:a="http://schemas.openxmlformats.org/drawingml/2006/main" sz="7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  <m:mr>
                          <m:e>
                            <m:r>
                              <a:rPr xmlns:a="http://schemas.openxmlformats.org/drawingml/2006/main" sz="7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xmlns:a="http://schemas.openxmlformats.org/drawingml/2006/main" sz="7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e>
                            <m:r>
                              <a:rPr xmlns:a="http://schemas.openxmlformats.org/drawingml/2006/main" sz="7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xmlns:a="http://schemas.openxmlformats.org/drawingml/2006/main" sz="70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sz="7000">
              <a:solidFill>
                <a:srgbClr val="FFFFFF"/>
              </a:solidFill>
            </a:endParaRPr>
          </a:p>
        </p:txBody>
      </p:sp>
      <p:sp>
        <p:nvSpPr>
          <p:cNvPr id="415" name="17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Making the shift to quantum inform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Making the shift to quantum information</a:t>
            </a:r>
          </a:p>
        </p:txBody>
      </p:sp>
      <p:sp>
        <p:nvSpPr>
          <p:cNvPr id="418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9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0" name="Bits of information can be represented as vectors."/>
          <p:cNvSpPr txBox="1"/>
          <p:nvPr/>
        </p:nvSpPr>
        <p:spPr>
          <a:xfrm>
            <a:off x="1207609" y="4724400"/>
            <a:ext cx="6080637" cy="426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Bits of information can be represented as vectors.</a:t>
            </a:r>
          </a:p>
        </p:txBody>
      </p:sp>
      <p:sp>
        <p:nvSpPr>
          <p:cNvPr id="421" name="How might we use vectors to do computation?…"/>
          <p:cNvSpPr txBox="1"/>
          <p:nvPr/>
        </p:nvSpPr>
        <p:spPr>
          <a:xfrm>
            <a:off x="15925139" y="3784599"/>
            <a:ext cx="7213448" cy="614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How might we use vectors to do computation?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algn="r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How do we move between vectors on a unit circle?</a:t>
            </a:r>
          </a:p>
        </p:txBody>
      </p:sp>
      <p:grpSp>
        <p:nvGrpSpPr>
          <p:cNvPr id="430" name="Group"/>
          <p:cNvGrpSpPr/>
          <p:nvPr/>
        </p:nvGrpSpPr>
        <p:grpSpPr>
          <a:xfrm>
            <a:off x="6765781" y="3900007"/>
            <a:ext cx="10769596" cy="7471711"/>
            <a:chOff x="0" y="0"/>
            <a:chExt cx="10769594" cy="7471709"/>
          </a:xfrm>
        </p:grpSpPr>
        <p:sp>
          <p:nvSpPr>
            <p:cNvPr id="422" name="Circle"/>
            <p:cNvSpPr/>
            <p:nvPr/>
          </p:nvSpPr>
          <p:spPr>
            <a:xfrm>
              <a:off x="2468226" y="0"/>
              <a:ext cx="5915986" cy="5915986"/>
            </a:xfrm>
            <a:prstGeom prst="ellipse">
              <a:avLst/>
            </a:prstGeom>
            <a:noFill/>
            <a:ln w="152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23" name="Circle"/>
            <p:cNvSpPr/>
            <p:nvPr/>
          </p:nvSpPr>
          <p:spPr>
            <a:xfrm>
              <a:off x="2144893" y="2582419"/>
              <a:ext cx="751147" cy="75114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24" name="Circle"/>
            <p:cNvSpPr/>
            <p:nvPr/>
          </p:nvSpPr>
          <p:spPr>
            <a:xfrm>
              <a:off x="7980395" y="2582419"/>
              <a:ext cx="751147" cy="751147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25" name="Text"/>
            <p:cNvSpPr txBox="1"/>
            <p:nvPr/>
          </p:nvSpPr>
          <p:spPr>
            <a:xfrm>
              <a:off x="8265632" y="2338108"/>
              <a:ext cx="2503963" cy="12397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6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6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6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  <p:sp>
          <p:nvSpPr>
            <p:cNvPr id="426" name="Text"/>
            <p:cNvSpPr txBox="1"/>
            <p:nvPr/>
          </p:nvSpPr>
          <p:spPr>
            <a:xfrm>
              <a:off x="0" y="2338108"/>
              <a:ext cx="2503962" cy="12397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6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6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xmlns:a="http://schemas.openxmlformats.org/drawingml/2006/main" sz="6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  <p:sp>
          <p:nvSpPr>
            <p:cNvPr id="427" name="Line"/>
            <p:cNvSpPr/>
            <p:nvPr/>
          </p:nvSpPr>
          <p:spPr>
            <a:xfrm flipV="1">
              <a:off x="5403611" y="936936"/>
              <a:ext cx="1796903" cy="2102294"/>
            </a:xfrm>
            <a:prstGeom prst="line">
              <a:avLst/>
            </a:prstGeom>
            <a:noFill/>
            <a:ln w="88900" cap="flat">
              <a:solidFill>
                <a:srgbClr val="FFFFFF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8" name="Oval"/>
            <p:cNvSpPr/>
            <p:nvPr/>
          </p:nvSpPr>
          <p:spPr>
            <a:xfrm>
              <a:off x="5235571" y="2761991"/>
              <a:ext cx="405293" cy="392003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429" name="Picture a unit circle."/>
            <p:cNvSpPr txBox="1"/>
            <p:nvPr/>
          </p:nvSpPr>
          <p:spPr>
            <a:xfrm>
              <a:off x="1831493" y="6328709"/>
              <a:ext cx="7213448" cy="114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6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Picture a unit circle.</a:t>
              </a:r>
            </a:p>
          </p:txBody>
        </p:sp>
      </p:grpSp>
      <p:sp>
        <p:nvSpPr>
          <p:cNvPr id="431" name="18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18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1" grpId="3"/>
      <p:bldP build="whole" bldLvl="1" animBg="1" rev="0" advAuto="0" spid="420" grpId="1"/>
      <p:bldP build="whole" bldLvl="1" animBg="1" rev="0" advAuto="0" spid="430" grpId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auli gates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Pauli gates.</a:t>
            </a:r>
          </a:p>
        </p:txBody>
      </p:sp>
      <p:sp>
        <p:nvSpPr>
          <p:cNvPr id="434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5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6" name="20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37" name="Equation"/>
          <p:cNvSpPr txBox="1"/>
          <p:nvPr/>
        </p:nvSpPr>
        <p:spPr>
          <a:xfrm>
            <a:off x="17998408" y="3286692"/>
            <a:ext cx="4169975" cy="181203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Z</m:t>
                  </m:r>
                  <m:r>
                    <a:rPr xmlns:a="http://schemas.openxmlformats.org/drawingml/2006/main" sz="5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8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58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sz="5800">
              <a:solidFill>
                <a:srgbClr val="FFFFFF"/>
              </a:solidFill>
            </a:endParaRPr>
          </a:p>
        </p:txBody>
      </p:sp>
      <p:sp>
        <p:nvSpPr>
          <p:cNvPr id="438" name="Equation"/>
          <p:cNvSpPr txBox="1"/>
          <p:nvPr/>
        </p:nvSpPr>
        <p:spPr>
          <a:xfrm>
            <a:off x="10092922" y="3286692"/>
            <a:ext cx="3944576" cy="181203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Y</m:t>
                  </m:r>
                  <m:r>
                    <a:rPr xmlns:a="http://schemas.openxmlformats.org/drawingml/2006/main" sz="5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8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58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-</m:t>
                            </m:r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</m:mr>
                        <m:mr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sz="5800">
              <a:solidFill>
                <a:srgbClr val="FFFFFF"/>
              </a:solidFill>
            </a:endParaRPr>
          </a:p>
        </p:txBody>
      </p:sp>
      <p:sp>
        <p:nvSpPr>
          <p:cNvPr id="439" name="Equation"/>
          <p:cNvSpPr txBox="1"/>
          <p:nvPr/>
        </p:nvSpPr>
        <p:spPr>
          <a:xfrm>
            <a:off x="2187436" y="3286692"/>
            <a:ext cx="3681937" cy="181203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5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8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58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sz="5800">
              <a:solidFill>
                <a:srgbClr val="FFFFFF"/>
              </a:solidFill>
            </a:endParaRPr>
          </a:p>
        </p:txBody>
      </p:sp>
      <p:sp>
        <p:nvSpPr>
          <p:cNvPr id="440" name="Equation"/>
          <p:cNvSpPr txBox="1"/>
          <p:nvPr/>
        </p:nvSpPr>
        <p:spPr>
          <a:xfrm>
            <a:off x="10461153" y="763063"/>
            <a:ext cx="3461694" cy="181203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58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8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m>
                        <m:mPr>
                          <m:ctrlPr>
                            <a:rPr xmlns:a="http://schemas.openxmlformats.org/drawingml/2006/main" sz="58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baseJc m:val="center"/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</m:mPr>
                        <m:mr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xmlns:a="http://schemas.openxmlformats.org/drawingml/2006/main" sz="5800" i="1">
                                <a:solidFill>
                                  <a:srgbClr val="FEFF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e>
                  </m:d>
                </m:oMath>
              </m:oMathPara>
            </a14:m>
            <a:endParaRPr sz="5800">
              <a:solidFill>
                <a:srgbClr val="FFFFFF"/>
              </a:solidFill>
            </a:endParaRPr>
          </a:p>
        </p:txBody>
      </p:sp>
      <p:grpSp>
        <p:nvGrpSpPr>
          <p:cNvPr id="444" name="Group"/>
          <p:cNvGrpSpPr/>
          <p:nvPr/>
        </p:nvGrpSpPr>
        <p:grpSpPr>
          <a:xfrm>
            <a:off x="2067507" y="6108402"/>
            <a:ext cx="3940414" cy="1270001"/>
            <a:chOff x="0" y="0"/>
            <a:chExt cx="3940413" cy="1270000"/>
          </a:xfrm>
        </p:grpSpPr>
        <p:sp>
          <p:nvSpPr>
            <p:cNvPr id="441" name="X"/>
            <p:cNvSpPr/>
            <p:nvPr/>
          </p:nvSpPr>
          <p:spPr>
            <a:xfrm>
              <a:off x="1365648" y="0"/>
              <a:ext cx="1270001" cy="1270000"/>
            </a:xfrm>
            <a:prstGeom prst="rect">
              <a:avLst/>
            </a:prstGeom>
            <a:solidFill>
              <a:srgbClr val="000000"/>
            </a:solidFill>
            <a:ln w="6350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X</a:t>
              </a:r>
            </a:p>
          </p:txBody>
        </p:sp>
        <p:sp>
          <p:nvSpPr>
            <p:cNvPr id="442" name="Line"/>
            <p:cNvSpPr/>
            <p:nvPr/>
          </p:nvSpPr>
          <p:spPr>
            <a:xfrm flipV="1">
              <a:off x="2614058" y="634999"/>
              <a:ext cx="1326356" cy="2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3" name="Line"/>
            <p:cNvSpPr/>
            <p:nvPr/>
          </p:nvSpPr>
          <p:spPr>
            <a:xfrm flipV="1">
              <a:off x="0" y="634999"/>
              <a:ext cx="1326355" cy="2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48" name="Group"/>
          <p:cNvGrpSpPr/>
          <p:nvPr/>
        </p:nvGrpSpPr>
        <p:grpSpPr>
          <a:xfrm>
            <a:off x="10474787" y="6108402"/>
            <a:ext cx="3940414" cy="1270001"/>
            <a:chOff x="0" y="0"/>
            <a:chExt cx="3940413" cy="1270000"/>
          </a:xfrm>
        </p:grpSpPr>
        <p:sp>
          <p:nvSpPr>
            <p:cNvPr id="445" name="Y"/>
            <p:cNvSpPr/>
            <p:nvPr/>
          </p:nvSpPr>
          <p:spPr>
            <a:xfrm>
              <a:off x="1365648" y="0"/>
              <a:ext cx="1270001" cy="1270000"/>
            </a:xfrm>
            <a:prstGeom prst="rect">
              <a:avLst/>
            </a:prstGeom>
            <a:solidFill>
              <a:srgbClr val="000000"/>
            </a:solidFill>
            <a:ln w="6350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Y</a:t>
              </a:r>
            </a:p>
          </p:txBody>
        </p:sp>
        <p:sp>
          <p:nvSpPr>
            <p:cNvPr id="446" name="Line"/>
            <p:cNvSpPr/>
            <p:nvPr/>
          </p:nvSpPr>
          <p:spPr>
            <a:xfrm flipV="1">
              <a:off x="2614058" y="634999"/>
              <a:ext cx="1326356" cy="2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7" name="Line"/>
            <p:cNvSpPr/>
            <p:nvPr/>
          </p:nvSpPr>
          <p:spPr>
            <a:xfrm flipV="1">
              <a:off x="0" y="634999"/>
              <a:ext cx="1326355" cy="2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52" name="Group"/>
          <p:cNvGrpSpPr/>
          <p:nvPr/>
        </p:nvGrpSpPr>
        <p:grpSpPr>
          <a:xfrm>
            <a:off x="18122500" y="6108402"/>
            <a:ext cx="3940414" cy="1270001"/>
            <a:chOff x="0" y="0"/>
            <a:chExt cx="3940413" cy="1270000"/>
          </a:xfrm>
        </p:grpSpPr>
        <p:sp>
          <p:nvSpPr>
            <p:cNvPr id="449" name="Z"/>
            <p:cNvSpPr/>
            <p:nvPr/>
          </p:nvSpPr>
          <p:spPr>
            <a:xfrm>
              <a:off x="1365648" y="0"/>
              <a:ext cx="1270001" cy="1270000"/>
            </a:xfrm>
            <a:prstGeom prst="rect">
              <a:avLst/>
            </a:prstGeom>
            <a:solidFill>
              <a:srgbClr val="000000"/>
            </a:solidFill>
            <a:ln w="63500" cap="flat">
              <a:solidFill>
                <a:srgbClr val="FFFFFF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:r>
                <a:t>Z</a:t>
              </a:r>
            </a:p>
          </p:txBody>
        </p:sp>
        <p:sp>
          <p:nvSpPr>
            <p:cNvPr id="450" name="Line"/>
            <p:cNvSpPr/>
            <p:nvPr/>
          </p:nvSpPr>
          <p:spPr>
            <a:xfrm flipV="1">
              <a:off x="2614058" y="634999"/>
              <a:ext cx="1326356" cy="2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51" name="Line"/>
            <p:cNvSpPr/>
            <p:nvPr/>
          </p:nvSpPr>
          <p:spPr>
            <a:xfrm flipV="1">
              <a:off x="0" y="634999"/>
              <a:ext cx="1326355" cy="2"/>
            </a:xfrm>
            <a:prstGeom prst="line">
              <a:avLst/>
            </a:prstGeom>
            <a:noFill/>
            <a:ln w="635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453" name="Line"/>
          <p:cNvSpPr/>
          <p:nvPr/>
        </p:nvSpPr>
        <p:spPr>
          <a:xfrm>
            <a:off x="15383061" y="1669081"/>
            <a:ext cx="2010951" cy="1"/>
          </a:xfrm>
          <a:prstGeom prst="line">
            <a:avLst/>
          </a:prstGeom>
          <a:ln w="635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454" name="Equation"/>
          <p:cNvSpPr txBox="1"/>
          <p:nvPr/>
        </p:nvSpPr>
        <p:spPr>
          <a:xfrm>
            <a:off x="9359920" y="9197651"/>
            <a:ext cx="6341464" cy="195262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f>
                        <m:f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degHide m:val="on"/>
                            </m:radPr>
                            <m:deg/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eqArr>
                        </m:e>
                      </m:d>
                      <m: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degHide m:val="on"/>
                            </m:radPr>
                            <m:deg/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</m:eqArr>
                        </m:e>
                      </m:d>
                    </m:e>
                  </m:d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sp>
        <p:nvSpPr>
          <p:cNvPr id="455" name="Equation"/>
          <p:cNvSpPr txBox="1"/>
          <p:nvPr/>
        </p:nvSpPr>
        <p:spPr>
          <a:xfrm>
            <a:off x="943330" y="9197651"/>
            <a:ext cx="6867244" cy="195262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f>
                        <m:f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degHide m:val="on"/>
                            </m:radPr>
                            <m:deg/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degHide m:val="on"/>
                            </m:radPr>
                            <m:deg/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-</m:t>
                              </m:r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e>
                  </m:d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sp>
        <p:nvSpPr>
          <p:cNvPr id="456" name="Equation"/>
          <p:cNvSpPr txBox="1"/>
          <p:nvPr/>
        </p:nvSpPr>
        <p:spPr>
          <a:xfrm>
            <a:off x="18096833" y="9197651"/>
            <a:ext cx="4163061" cy="195262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  <m:begChr m:val="{"/>
                      <m:endChr m:val="}"/>
                    </m:dPr>
                    <m:e>
                      <m:d>
                        <m:d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xmlns:a="http://schemas.openxmlformats.org/drawingml/2006/main" sz="50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xmlns:a="http://schemas.openxmlformats.org/drawingml/2006/main" sz="50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xmlns:a="http://schemas.openxmlformats.org/drawingml/2006/main" sz="500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e>
                  </m:d>
                </m:oMath>
              </m:oMathPara>
            </a14:m>
            <a:endParaRPr sz="5000">
              <a:solidFill>
                <a:srgbClr val="FFFFFF"/>
              </a:solidFill>
            </a:endParaRPr>
          </a:p>
        </p:txBody>
      </p:sp>
      <p:sp>
        <p:nvSpPr>
          <p:cNvPr id="457" name="Eigenvectors of the Paulis."/>
          <p:cNvSpPr txBox="1"/>
          <p:nvPr/>
        </p:nvSpPr>
        <p:spPr>
          <a:xfrm>
            <a:off x="7573944" y="7773259"/>
            <a:ext cx="9913418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defRPr sz="6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rPr>
                <a:latin typeface="Avenir Heavy"/>
                <a:ea typeface="Avenir Heavy"/>
                <a:cs typeface="Avenir Heavy"/>
                <a:sym typeface="Avenir Heavy"/>
              </a:rPr>
              <a:t>Eigenvectors</a:t>
            </a:r>
            <a:r>
              <a:t> of the Paulis.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Qubits and quantum gates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Qubits and quantum gates.</a:t>
            </a:r>
          </a:p>
        </p:txBody>
      </p:sp>
      <p:sp>
        <p:nvSpPr>
          <p:cNvPr id="460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1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2" name="19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463" name="Qubits can be represented using the surface of a unit sphere.…"/>
          <p:cNvSpPr txBox="1"/>
          <p:nvPr/>
        </p:nvSpPr>
        <p:spPr>
          <a:xfrm>
            <a:off x="1167327" y="2875758"/>
            <a:ext cx="11642671" cy="7964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762000" indent="-762000">
              <a:lnSpc>
                <a:spcPct val="80000"/>
              </a:lnSpc>
              <a:spcBef>
                <a:spcPts val="0"/>
              </a:spcBef>
              <a:buSzPct val="123000"/>
              <a:buChar char="•"/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Qubits can be represented using the surface of a unit sphere.</a:t>
            </a:r>
          </a:p>
          <a:p>
            <a:pPr marL="762000" indent="-762000">
              <a:lnSpc>
                <a:spcPct val="80000"/>
              </a:lnSpc>
              <a:spcBef>
                <a:spcPts val="0"/>
              </a:spcBef>
              <a:buSzPct val="123000"/>
              <a:buChar char="•"/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Gates map collections of qubit states to other states.</a:t>
            </a:r>
          </a:p>
          <a:p>
            <a:pPr lvl="1" marL="1371600" indent="-762000">
              <a:lnSpc>
                <a:spcPct val="80000"/>
              </a:lnSpc>
              <a:spcBef>
                <a:spcPts val="0"/>
              </a:spcBef>
              <a:buSzPct val="123000"/>
              <a:buChar char="•"/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1-to-1 mapping </a:t>
            </a:r>
            <a14:m>
              <m:oMath>
                <m:r>
                  <a:rPr xmlns:a="http://schemas.openxmlformats.org/drawingml/2006/main" sz="680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⟹</m:t>
                </m:r>
              </m:oMath>
            </a14:m>
            <a:r>
              <a:t> satisfy the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reversibility</a:t>
            </a:r>
            <a:r>
              <a:t> condition.</a:t>
            </a:r>
          </a:p>
          <a:p>
            <a:pPr marL="762000" indent="-762000">
              <a:lnSpc>
                <a:spcPct val="80000"/>
              </a:lnSpc>
              <a:spcBef>
                <a:spcPts val="0"/>
              </a:spcBef>
              <a:buSzPct val="123000"/>
              <a:buChar char="•"/>
              <a:defRPr spc="-119"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Hence,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single-qubit gates rotate</a:t>
            </a:r>
            <a:r>
              <a:t> a qubit!</a:t>
            </a:r>
          </a:p>
        </p:txBody>
      </p:sp>
      <p:sp>
        <p:nvSpPr>
          <p:cNvPr id="464" name="Rounded Rectangle"/>
          <p:cNvSpPr/>
          <p:nvPr/>
        </p:nvSpPr>
        <p:spPr>
          <a:xfrm>
            <a:off x="14031603" y="2875758"/>
            <a:ext cx="8012812" cy="7964484"/>
          </a:xfrm>
          <a:prstGeom prst="roundRect">
            <a:avLst>
              <a:gd name="adj" fmla="val 15091"/>
            </a:avLst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5" name="https://prefetch.eu/know/concept/bloch-sphere/"/>
          <p:cNvSpPr txBox="1"/>
          <p:nvPr/>
        </p:nvSpPr>
        <p:spPr>
          <a:xfrm>
            <a:off x="14681856" y="11013890"/>
            <a:ext cx="6712306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https://prefetch.eu/know/concept/bloch-sphere/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0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1" name="21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472" name="Bloch sphere demo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Bloch sphere demo.</a:t>
            </a:r>
          </a:p>
        </p:txBody>
      </p:sp>
      <p:sp>
        <p:nvSpPr>
          <p:cNvPr id="473" name="First, let’s calculate why they’re eigenvectors.…"/>
          <p:cNvSpPr txBox="1"/>
          <p:nvPr/>
        </p:nvSpPr>
        <p:spPr>
          <a:xfrm>
            <a:off x="3269463" y="5245100"/>
            <a:ext cx="17845074" cy="322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First, let’s calculate why they’re </a:t>
            </a:r>
            <a:r>
              <a:rPr>
                <a:latin typeface="Avenir Book Oblique"/>
                <a:ea typeface="Avenir Book Oblique"/>
                <a:cs typeface="Avenir Book Oblique"/>
                <a:sym typeface="Avenir Book Oblique"/>
              </a:rPr>
              <a:t>eigenvectors</a:t>
            </a:r>
            <a:r>
              <a:t>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Then, we’ll get a geometric sense for this.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sz="60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Check out </a:t>
            </a:r>
            <a:r>
              <a:rPr u="sng">
                <a:hlinkClick r:id="rId4" invalidUrl="" action="" tgtFrame="" tooltip="" history="1" highlightClick="0" endSnd="0"/>
              </a:rPr>
              <a:t>https://javafxpert.github.io/grok-bloch/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1 qubit…2 qubits…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1 qubit…2 qubits….</a:t>
            </a:r>
          </a:p>
        </p:txBody>
      </p:sp>
      <p:sp>
        <p:nvSpPr>
          <p:cNvPr id="478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9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0" name="Let’s start with 1 qubit, named q1.  in the standard basis.…"/>
          <p:cNvSpPr txBox="1"/>
          <p:nvPr/>
        </p:nvSpPr>
        <p:spPr>
          <a:xfrm>
            <a:off x="1244799" y="2774384"/>
            <a:ext cx="16244389" cy="8167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Let’s start with 1 qubit, named q1.</a:t>
            </a:r>
            <a14:m>
              <m:oMath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sSub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ctrlP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eqArr>
                      <m:eqArrPr>
                        <m:ctrlPr>
                          <a:rPr xmlns:a="http://schemas.openxmlformats.org/drawingml/2006/main"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xmlns:a="http://schemas.openxmlformats.org/drawingml/2006/main"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e>
                        <m:r>
                          <a:rPr xmlns:a="http://schemas.openxmlformats.org/drawingml/2006/main" sz="55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eqArr>
                  </m:e>
                </m:d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⟩</m:t>
                </m:r>
              </m:oMath>
            </a14:m>
            <a:r>
              <a:t> in the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standard basis.</a:t>
            </a:r>
            <a:endParaRPr>
              <a:latin typeface="Avenir Black"/>
              <a:ea typeface="Avenir Black"/>
              <a:cs typeface="Avenir Black"/>
              <a:sym typeface="Avenir Black"/>
            </a:endParaRP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>
              <a:latin typeface="Avenir Black"/>
              <a:ea typeface="Avenir Black"/>
              <a:cs typeface="Avenir Black"/>
              <a:sym typeface="Avenir Black"/>
            </a:endParaRP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Because q1 lies on the unit sphere, we make sure that it has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unit length</a:t>
            </a:r>
            <a:r>
              <a:t>: we’ll need the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inner product (length check)</a:t>
            </a:r>
            <a:r>
              <a:t>!</a:t>
            </a: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⟨</m:t>
                  </m:r>
                  <m:sSub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e>
                    <m:sub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e>
                    <m:sub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sup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*</m:t>
                      </m:r>
                    </m:sup>
                  </m:sSup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sSup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  <m:sup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*</m:t>
                      </m:r>
                    </m:sup>
                  </m:sSup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sSup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e>
                    <m:sup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b</m:t>
                  </m:r>
                  <m:sSup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e>
                    <m:sup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≡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</a:p>
        </p:txBody>
      </p:sp>
      <p:sp>
        <p:nvSpPr>
          <p:cNvPr id="481" name="22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22</a:t>
            </a:r>
          </a:p>
        </p:txBody>
      </p:sp>
      <p:grpSp>
        <p:nvGrpSpPr>
          <p:cNvPr id="488" name="Group"/>
          <p:cNvGrpSpPr/>
          <p:nvPr/>
        </p:nvGrpSpPr>
        <p:grpSpPr>
          <a:xfrm>
            <a:off x="8214706" y="9025071"/>
            <a:ext cx="7549744" cy="1718256"/>
            <a:chOff x="0" y="0"/>
            <a:chExt cx="7549743" cy="1718254"/>
          </a:xfrm>
        </p:grpSpPr>
        <p:grpSp>
          <p:nvGrpSpPr>
            <p:cNvPr id="485" name="Group"/>
            <p:cNvGrpSpPr/>
            <p:nvPr/>
          </p:nvGrpSpPr>
          <p:grpSpPr>
            <a:xfrm>
              <a:off x="1064848" y="0"/>
              <a:ext cx="5331209" cy="1718255"/>
              <a:chOff x="0" y="0"/>
              <a:chExt cx="5331208" cy="1718254"/>
            </a:xfrm>
          </p:grpSpPr>
          <p:sp>
            <p:nvSpPr>
              <p:cNvPr id="482" name="Square"/>
              <p:cNvSpPr/>
              <p:nvPr/>
            </p:nvSpPr>
            <p:spPr>
              <a:xfrm>
                <a:off x="1847662" y="0"/>
                <a:ext cx="1718256" cy="1718255"/>
              </a:xfrm>
              <a:prstGeom prst="rect">
                <a:avLst/>
              </a:prstGeom>
              <a:solidFill>
                <a:srgbClr val="000000"/>
              </a:solidFill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4000">
                    <a:solidFill>
                      <a:srgbClr val="FFFFFF"/>
                    </a:solidFill>
                    <a:latin typeface="Avenir Book"/>
                    <a:ea typeface="Avenir Book"/>
                    <a:cs typeface="Avenir Book"/>
                    <a:sym typeface="Avenir Book"/>
                  </a:defRPr>
                </a:lvl1pPr>
              </a:lstStyle>
              <a:p>
                <a:pPr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xmlns:a="http://schemas.openxmlformats.org/drawingml/2006/main" sz="43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sSub>
                            <m:e>
                              <m:r>
                                <a:rPr xmlns:a="http://schemas.openxmlformats.org/drawingml/2006/main" sz="43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xmlns:a="http://schemas.openxmlformats.org/drawingml/2006/main" sz="43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  <p:sp>
            <p:nvSpPr>
              <p:cNvPr id="483" name="Line"/>
              <p:cNvSpPr/>
              <p:nvPr/>
            </p:nvSpPr>
            <p:spPr>
              <a:xfrm flipV="1">
                <a:off x="3536707" y="859127"/>
                <a:ext cx="1794502" cy="1"/>
              </a:xfrm>
              <a:prstGeom prst="line">
                <a:avLst/>
              </a:prstGeom>
              <a:noFill/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84" name="Line"/>
              <p:cNvSpPr/>
              <p:nvPr/>
            </p:nvSpPr>
            <p:spPr>
              <a:xfrm flipV="1">
                <a:off x="0" y="859127"/>
                <a:ext cx="1794501" cy="1"/>
              </a:xfrm>
              <a:prstGeom prst="line">
                <a:avLst/>
              </a:prstGeom>
              <a:noFill/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486" name="Text"/>
            <p:cNvSpPr txBox="1"/>
            <p:nvPr/>
          </p:nvSpPr>
          <p:spPr>
            <a:xfrm>
              <a:off x="0" y="428937"/>
              <a:ext cx="915421" cy="860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  <p:sp>
          <p:nvSpPr>
            <p:cNvPr id="487" name="Text"/>
            <p:cNvSpPr txBox="1"/>
            <p:nvPr/>
          </p:nvSpPr>
          <p:spPr>
            <a:xfrm>
              <a:off x="6456645" y="428937"/>
              <a:ext cx="1093099" cy="860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xmlns:a="http://schemas.openxmlformats.org/drawingml/2006/main" sz="4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xmlns:a="http://schemas.openxmlformats.org/drawingml/2006/main" sz="4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48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00"/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00"/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00"/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300"/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8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robabilistic interpretation of quantum mechanics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Probabilistic interpretation of quantum mechanics.</a:t>
            </a:r>
          </a:p>
        </p:txBody>
      </p:sp>
      <p:sp>
        <p:nvSpPr>
          <p:cNvPr id="491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2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3" name="23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494" name="Equation"/>
          <p:cNvSpPr txBox="1"/>
          <p:nvPr/>
        </p:nvSpPr>
        <p:spPr>
          <a:xfrm>
            <a:off x="7070172" y="2728516"/>
            <a:ext cx="7432723" cy="128873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55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e>
                    <m:sub>
                      <m:r>
                        <a:rPr xmlns:a="http://schemas.openxmlformats.org/drawingml/2006/main" sz="55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5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5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a:rPr xmlns:a="http://schemas.openxmlformats.org/drawingml/2006/main" sz="55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eqArr>
                    </m:e>
                  </m:d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55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</m:oMath>
              </m:oMathPara>
            </a14:m>
            <a:endParaRPr sz="5500">
              <a:solidFill>
                <a:srgbClr val="FFFFFF"/>
              </a:solidFill>
            </a:endParaRPr>
          </a:p>
        </p:txBody>
      </p:sp>
      <p:sp>
        <p:nvSpPr>
          <p:cNvPr id="495" name="If we measure this qubit in the standard basis,…"/>
          <p:cNvSpPr txBox="1"/>
          <p:nvPr/>
        </p:nvSpPr>
        <p:spPr>
          <a:xfrm>
            <a:off x="3088752" y="4360103"/>
            <a:ext cx="18206496" cy="687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If we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measure</a:t>
            </a:r>
            <a:r>
              <a:t> this qubit in the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standard basis,</a:t>
            </a: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14:m>
              <m:oMath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0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sSub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⟩</m:t>
                </m:r>
                <m:sSup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</m:e>
                  <m:sup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(</m:t>
                </m:r>
                <m:sSup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sup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*</m:t>
                    </m:r>
                  </m:sup>
                </m:sSup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a</m:t>
                </m:r>
                <m:sSup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</m:e>
                  <m:sup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is the probability of measuring a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0</a:t>
            </a:r>
            <a:r>
              <a:t>.</a:t>
            </a: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14:m>
              <m:oMath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⟨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sSub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⟩</m:t>
                </m:r>
                <m:sSup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</m:e>
                  <m:sup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(</m:t>
                </m:r>
                <m:sSup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p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*</m:t>
                    </m:r>
                  </m:sup>
                </m:sSup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55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b</m:t>
                </m:r>
                <m:sSup>
                  <m:e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</m:e>
                  <m:sup>
                    <m:r>
                      <a:rPr xmlns:a="http://schemas.openxmlformats.org/drawingml/2006/main" sz="55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</m:oMath>
            </a14:m>
            <a:r>
              <a:t> is the probability of measuring a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1</a:t>
            </a:r>
            <a:r>
              <a:t>.</a:t>
            </a: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This is the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Born rule.</a:t>
            </a: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All probabilities of possible results must sum to 1!</a:t>
            </a:r>
          </a:p>
        </p:txBody>
      </p:sp>
      <p:pic>
        <p:nvPicPr>
          <p:cNvPr id="496" name="e274c94d.jpg" descr="e274c94d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387512" y="7390388"/>
            <a:ext cx="2584234" cy="3334495"/>
          </a:xfrm>
          <a:prstGeom prst="rect">
            <a:avLst/>
          </a:prstGeom>
          <a:ln w="63500">
            <a:solidFill>
              <a:srgbClr val="FFFFFF"/>
            </a:solidFill>
            <a:miter lim="400000"/>
          </a:ln>
        </p:spPr>
      </p:pic>
      <p:pic>
        <p:nvPicPr>
          <p:cNvPr id="497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982871" y="2477419"/>
            <a:ext cx="4462365" cy="2231183"/>
          </a:xfrm>
          <a:prstGeom prst="rect">
            <a:avLst/>
          </a:prstGeom>
          <a:ln w="76200">
            <a:solidFill>
              <a:srgbClr val="FFFFFF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49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4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00"/>
                                        <p:tgtEl>
                                          <p:spTgt spid="4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00"/>
                                        <p:tgtEl>
                                          <p:spTgt spid="4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00"/>
                                        <p:tgtEl>
                                          <p:spTgt spid="4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300"/>
                                        <p:tgtEl>
                                          <p:spTgt spid="4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00"/>
                                        <p:tgtEl>
                                          <p:spTgt spid="4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00"/>
                                        <p:tgtEl>
                                          <p:spTgt spid="4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300"/>
                                        <p:tgtEl>
                                          <p:spTgt spid="4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95" grpId="1"/>
      <p:bldP build="whole" bldLvl="1" animBg="1" rev="0" advAuto="0" spid="497" grpId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0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1" name="24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502" name="Probabilities in action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Probabilities in action.</a:t>
            </a:r>
          </a:p>
        </p:txBody>
      </p:sp>
      <p:sp>
        <p:nvSpPr>
          <p:cNvPr id="503" name="Say we now have 2 qubits, named q1 &amp; q2.…"/>
          <p:cNvSpPr txBox="1"/>
          <p:nvPr/>
        </p:nvSpPr>
        <p:spPr>
          <a:xfrm>
            <a:off x="1244799" y="2449040"/>
            <a:ext cx="15248058" cy="9356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Say we now have 2 qubits, named q1 &amp; q2.</a:t>
            </a:r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Each has state:</a:t>
            </a:r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4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e>
                    <m:sub>
                      <m:r>
                        <a:rPr xmlns:a="http://schemas.openxmlformats.org/drawingml/2006/main" sz="4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4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4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a:rPr xmlns:a="http://schemas.openxmlformats.org/drawingml/2006/main" sz="4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eqArr>
                    </m:e>
                  </m:d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</m:oMath>
              </m:oMathPara>
            </a14:m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sSub>
                    <m:e>
                      <m:r>
                        <a:rPr xmlns:a="http://schemas.openxmlformats.org/drawingml/2006/main" sz="4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e>
                    <m:sub>
                      <m:r>
                        <a:rPr xmlns:a="http://schemas.openxmlformats.org/drawingml/2006/main" sz="4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48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4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4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48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eqArr>
                    </m:e>
                  </m:d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0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|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1</m:t>
                  </m:r>
                  <m:r>
                    <a:rPr xmlns:a="http://schemas.openxmlformats.org/drawingml/2006/main" sz="48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⟩</m:t>
                  </m:r>
                </m:oMath>
              </m:oMathPara>
            </a14:m>
            <a:endParaRPr>
              <a:latin typeface="Avenir Black"/>
              <a:ea typeface="Avenir Black"/>
              <a:cs typeface="Avenir Black"/>
              <a:sym typeface="Avenir Black"/>
            </a:endParaRPr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endParaRPr>
              <a:latin typeface="Avenir Black"/>
              <a:ea typeface="Avenir Black"/>
              <a:cs typeface="Avenir Black"/>
              <a:sym typeface="Avenir Black"/>
            </a:endParaRPr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We want to describe them as part of the same system.</a:t>
            </a:r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We can try to use the </a:t>
            </a:r>
            <a:r>
              <a:rPr>
                <a:latin typeface="Avenir Black"/>
                <a:ea typeface="Avenir Black"/>
                <a:cs typeface="Avenir Black"/>
                <a:sym typeface="Avenir Black"/>
              </a:rPr>
              <a:t>tensor product (glue)</a:t>
            </a:r>
            <a:r>
              <a:t>!</a:t>
            </a:r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defTabSz="2145738">
              <a:lnSpc>
                <a:spcPct val="80000"/>
              </a:lnSpc>
              <a:spcBef>
                <a:spcPts val="800"/>
              </a:spcBef>
              <a:defRPr spc="-86" sz="4312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Overall system state: </a:t>
            </a:r>
            <a14:m>
              <m:oMath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sSub>
                  <m:e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⊗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sSub>
                  <m:e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⟩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00</m:t>
                </m:r>
                <m:sSub>
                  <m:e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e>
                  <m:sub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1,2</m:t>
                    </m:r>
                  </m:sub>
                </m:sSub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01</m:t>
                </m:r>
                <m:sSub>
                  <m:e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e>
                  <m:sub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1,2</m:t>
                    </m:r>
                  </m:sub>
                </m:sSub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10</m:t>
                </m:r>
                <m:sSub>
                  <m:e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e>
                  <m:sub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1,2</m:t>
                    </m:r>
                  </m:sub>
                </m:sSub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4850" i="1">
                    <a:solidFill>
                      <a:srgbClr val="FEFFFE"/>
                    </a:solidFill>
                    <a:latin typeface="Cambria Math" panose="02040503050406030204" pitchFamily="18" charset="0"/>
                  </a:rPr>
                  <m:t>11</m:t>
                </m:r>
                <m:sSub>
                  <m:e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e>
                  <m:sub>
                    <m:r>
                      <a:rPr xmlns:a="http://schemas.openxmlformats.org/drawingml/2006/main" sz="48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1,2</m:t>
                    </m:r>
                  </m:sub>
                </m:sSub>
              </m:oMath>
            </a14:m>
          </a:p>
        </p:txBody>
      </p:sp>
      <p:grpSp>
        <p:nvGrpSpPr>
          <p:cNvPr id="510" name="Group"/>
          <p:cNvGrpSpPr/>
          <p:nvPr/>
        </p:nvGrpSpPr>
        <p:grpSpPr>
          <a:xfrm>
            <a:off x="16066696" y="3172155"/>
            <a:ext cx="7549745" cy="1718256"/>
            <a:chOff x="0" y="0"/>
            <a:chExt cx="7549743" cy="1718254"/>
          </a:xfrm>
        </p:grpSpPr>
        <p:grpSp>
          <p:nvGrpSpPr>
            <p:cNvPr id="507" name="Group"/>
            <p:cNvGrpSpPr/>
            <p:nvPr/>
          </p:nvGrpSpPr>
          <p:grpSpPr>
            <a:xfrm>
              <a:off x="1064848" y="0"/>
              <a:ext cx="5331209" cy="1718255"/>
              <a:chOff x="0" y="0"/>
              <a:chExt cx="5331208" cy="1718254"/>
            </a:xfrm>
          </p:grpSpPr>
          <p:sp>
            <p:nvSpPr>
              <p:cNvPr id="504" name="Square"/>
              <p:cNvSpPr/>
              <p:nvPr/>
            </p:nvSpPr>
            <p:spPr>
              <a:xfrm>
                <a:off x="1847662" y="0"/>
                <a:ext cx="1718256" cy="1718255"/>
              </a:xfrm>
              <a:prstGeom prst="rect">
                <a:avLst/>
              </a:prstGeom>
              <a:solidFill>
                <a:srgbClr val="000000"/>
              </a:solidFill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4000">
                    <a:solidFill>
                      <a:srgbClr val="FFFFFF"/>
                    </a:solidFill>
                    <a:latin typeface="Avenir Book"/>
                    <a:ea typeface="Avenir Book"/>
                    <a:cs typeface="Avenir Book"/>
                    <a:sym typeface="Avenir Book"/>
                  </a:defRPr>
                </a:lvl1pPr>
              </a:lstStyle>
              <a:p>
                <a:pPr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xmlns:a="http://schemas.openxmlformats.org/drawingml/2006/main" sz="43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sSub>
                            <m:e>
                              <m:r>
                                <a:rPr xmlns:a="http://schemas.openxmlformats.org/drawingml/2006/main" sz="43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xmlns:a="http://schemas.openxmlformats.org/drawingml/2006/main" sz="43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  <p:sp>
            <p:nvSpPr>
              <p:cNvPr id="505" name="Line"/>
              <p:cNvSpPr/>
              <p:nvPr/>
            </p:nvSpPr>
            <p:spPr>
              <a:xfrm flipV="1">
                <a:off x="3536707" y="859127"/>
                <a:ext cx="1794502" cy="1"/>
              </a:xfrm>
              <a:prstGeom prst="line">
                <a:avLst/>
              </a:prstGeom>
              <a:noFill/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06" name="Line"/>
              <p:cNvSpPr/>
              <p:nvPr/>
            </p:nvSpPr>
            <p:spPr>
              <a:xfrm flipV="1">
                <a:off x="0" y="859127"/>
                <a:ext cx="1794501" cy="1"/>
              </a:xfrm>
              <a:prstGeom prst="line">
                <a:avLst/>
              </a:prstGeom>
              <a:noFill/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508" name="Text"/>
            <p:cNvSpPr txBox="1"/>
            <p:nvPr/>
          </p:nvSpPr>
          <p:spPr>
            <a:xfrm>
              <a:off x="0" y="428937"/>
              <a:ext cx="915421" cy="860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  <p:sp>
          <p:nvSpPr>
            <p:cNvPr id="509" name="Text"/>
            <p:cNvSpPr txBox="1"/>
            <p:nvPr/>
          </p:nvSpPr>
          <p:spPr>
            <a:xfrm>
              <a:off x="6456645" y="428937"/>
              <a:ext cx="1093099" cy="860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xmlns:a="http://schemas.openxmlformats.org/drawingml/2006/main" sz="4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xmlns:a="http://schemas.openxmlformats.org/drawingml/2006/main" sz="4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</p:grpSp>
      <p:grpSp>
        <p:nvGrpSpPr>
          <p:cNvPr id="517" name="Group"/>
          <p:cNvGrpSpPr/>
          <p:nvPr/>
        </p:nvGrpSpPr>
        <p:grpSpPr>
          <a:xfrm>
            <a:off x="16066696" y="5783240"/>
            <a:ext cx="7549745" cy="1718256"/>
            <a:chOff x="0" y="0"/>
            <a:chExt cx="7549743" cy="1718254"/>
          </a:xfrm>
        </p:grpSpPr>
        <p:grpSp>
          <p:nvGrpSpPr>
            <p:cNvPr id="514" name="Group"/>
            <p:cNvGrpSpPr/>
            <p:nvPr/>
          </p:nvGrpSpPr>
          <p:grpSpPr>
            <a:xfrm>
              <a:off x="1064848" y="0"/>
              <a:ext cx="5331209" cy="1718255"/>
              <a:chOff x="0" y="0"/>
              <a:chExt cx="5331208" cy="1718254"/>
            </a:xfrm>
          </p:grpSpPr>
          <p:sp>
            <p:nvSpPr>
              <p:cNvPr id="511" name="Square"/>
              <p:cNvSpPr/>
              <p:nvPr/>
            </p:nvSpPr>
            <p:spPr>
              <a:xfrm>
                <a:off x="1847662" y="0"/>
                <a:ext cx="1718256" cy="1718255"/>
              </a:xfrm>
              <a:prstGeom prst="rect">
                <a:avLst/>
              </a:prstGeom>
              <a:solidFill>
                <a:srgbClr val="000000"/>
              </a:solidFill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825500">
                  <a:lnSpc>
                    <a:spcPct val="100000"/>
                  </a:lnSpc>
                  <a:spcBef>
                    <a:spcPts val="0"/>
                  </a:spcBef>
                  <a:defRPr sz="4000">
                    <a:solidFill>
                      <a:srgbClr val="FFFFFF"/>
                    </a:solidFill>
                    <a:latin typeface="Avenir Book"/>
                    <a:ea typeface="Avenir Book"/>
                    <a:cs typeface="Avenir Book"/>
                    <a:sym typeface="Avenir Book"/>
                  </a:defRPr>
                </a:lvl1pPr>
              </a:lstStyle>
              <a:p>
                <a:pPr/>
                <a14:m>
                  <m:oMathPara>
                    <m:oMathParaPr>
                      <m:jc m:val="center"/>
                    </m:oMathParaPr>
                    <m:oMath>
                      <m:sSub>
                        <m:e>
                          <m:r>
                            <a:rPr xmlns:a="http://schemas.openxmlformats.org/drawingml/2006/main" sz="43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sSub>
                            <m:e>
                              <m:r>
                                <a:rPr xmlns:a="http://schemas.openxmlformats.org/drawingml/2006/main" sz="43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xmlns:a="http://schemas.openxmlformats.org/drawingml/2006/main" sz="4350" i="1">
                                  <a:solidFill>
                                    <a:srgbClr val="FEFFFE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</a:p>
            </p:txBody>
          </p:sp>
          <p:sp>
            <p:nvSpPr>
              <p:cNvPr id="512" name="Line"/>
              <p:cNvSpPr/>
              <p:nvPr/>
            </p:nvSpPr>
            <p:spPr>
              <a:xfrm flipV="1">
                <a:off x="3536707" y="859127"/>
                <a:ext cx="1794502" cy="1"/>
              </a:xfrm>
              <a:prstGeom prst="line">
                <a:avLst/>
              </a:prstGeom>
              <a:noFill/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513" name="Line"/>
              <p:cNvSpPr/>
              <p:nvPr/>
            </p:nvSpPr>
            <p:spPr>
              <a:xfrm flipV="1">
                <a:off x="0" y="859127"/>
                <a:ext cx="1794501" cy="1"/>
              </a:xfrm>
              <a:prstGeom prst="line">
                <a:avLst/>
              </a:prstGeom>
              <a:noFill/>
              <a:ln w="63500" cap="flat">
                <a:solidFill>
                  <a:srgbClr val="FFFF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defRPr sz="2400">
                    <a:solidFill>
                      <a:srgbClr val="FFFFFF"/>
                    </a:solidFill>
                  </a:defRPr>
                </a:pPr>
              </a:p>
            </p:txBody>
          </p:sp>
        </p:grpSp>
        <p:sp>
          <p:nvSpPr>
            <p:cNvPr id="515" name="Text"/>
            <p:cNvSpPr txBox="1"/>
            <p:nvPr/>
          </p:nvSpPr>
          <p:spPr>
            <a:xfrm>
              <a:off x="0" y="428937"/>
              <a:ext cx="915421" cy="860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  <p:sp>
          <p:nvSpPr>
            <p:cNvPr id="516" name="Text"/>
            <p:cNvSpPr txBox="1"/>
            <p:nvPr/>
          </p:nvSpPr>
          <p:spPr>
            <a:xfrm>
              <a:off x="6456645" y="428937"/>
              <a:ext cx="1093099" cy="8603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4000">
                  <a:solidFill>
                    <a:srgbClr val="FFFFFF"/>
                  </a:solidFill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pPr/>
              <a14:m>
                <m:oMathPara>
                  <m:oMathParaPr>
                    <m:jc m:val="center"/>
                  </m:oMathParaPr>
                  <m:oMath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xmlns:a="http://schemas.openxmlformats.org/drawingml/2006/main" sz="4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xmlns:a="http://schemas.openxmlformats.org/drawingml/2006/main" sz="4350" i="1">
                            <a:solidFill>
                              <a:srgbClr val="FEFF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xmlns:a="http://schemas.openxmlformats.org/drawingml/2006/main" sz="4350" i="1">
                        <a:solidFill>
                          <a:srgbClr val="FEFFFE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m:oMathPara>
              </a14:m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50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00"/>
                                        <p:tgtEl>
                                          <p:spTgt spid="5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00"/>
                                        <p:tgtEl>
                                          <p:spTgt spid="5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00"/>
                                        <p:tgtEl>
                                          <p:spTgt spid="5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300"/>
                                        <p:tgtEl>
                                          <p:spTgt spid="5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00"/>
                                        <p:tgtEl>
                                          <p:spTgt spid="5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00"/>
                                        <p:tgtEl>
                                          <p:spTgt spid="5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300"/>
                                        <p:tgtEl>
                                          <p:spTgt spid="5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300"/>
                                        <p:tgtEl>
                                          <p:spTgt spid="5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5" dur="300"/>
                                        <p:tgtEl>
                                          <p:spTgt spid="5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5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60" dur="300"/>
                                        <p:tgtEl>
                                          <p:spTgt spid="5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0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But wait…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888">
              <a:defRPr spc="-154" sz="7735">
                <a:latin typeface="Avenir Black"/>
                <a:ea typeface="Avenir Black"/>
                <a:cs typeface="Avenir Black"/>
                <a:sym typeface="Avenir Black"/>
              </a:defRPr>
            </a:lvl1pPr>
          </a:lstStyle>
          <a:p>
            <a:pPr/>
            <a:r>
              <a:t>But wait…!</a:t>
            </a:r>
          </a:p>
        </p:txBody>
      </p:sp>
      <p:sp>
        <p:nvSpPr>
          <p:cNvPr id="520" name="Rectangle"/>
          <p:cNvSpPr/>
          <p:nvPr/>
        </p:nvSpPr>
        <p:spPr>
          <a:xfrm>
            <a:off x="-2064197" y="11708240"/>
            <a:ext cx="28512394" cy="192359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1" name="Rounded Rectangle"/>
          <p:cNvSpPr/>
          <p:nvPr/>
        </p:nvSpPr>
        <p:spPr>
          <a:xfrm>
            <a:off x="19951492" y="11913574"/>
            <a:ext cx="4259780" cy="1718256"/>
          </a:xfrm>
          <a:prstGeom prst="roundRect">
            <a:avLst>
              <a:gd name="adj" fmla="val 11087"/>
            </a:avLst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2" name="25"/>
          <p:cNvSpPr txBox="1"/>
          <p:nvPr/>
        </p:nvSpPr>
        <p:spPr>
          <a:xfrm>
            <a:off x="708618" y="12461551"/>
            <a:ext cx="537973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">
                <a:solidFill>
                  <a:srgbClr val="434343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523" name="Equation"/>
          <p:cNvSpPr txBox="1"/>
          <p:nvPr/>
        </p:nvSpPr>
        <p:spPr>
          <a:xfrm>
            <a:off x="9629647" y="1218238"/>
            <a:ext cx="5124705" cy="299689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d>
                    <m:dPr>
                      <m:ctrlPr>
                        <a:rPr xmlns:a="http://schemas.openxmlformats.org/drawingml/2006/main" sz="5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e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eqArr>
                    </m:e>
                  </m:d>
                  <m:r>
                    <a:rPr xmlns:a="http://schemas.openxmlformats.org/drawingml/2006/main" sz="5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⊗</m:t>
                  </m:r>
                  <m:d>
                    <m:dPr>
                      <m:ctrlPr>
                        <a:rPr xmlns:a="http://schemas.openxmlformats.org/drawingml/2006/main" sz="5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eqArr>
                    </m:e>
                  </m:d>
                  <m:r>
                    <a:rPr xmlns:a="http://schemas.openxmlformats.org/drawingml/2006/main" sz="520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520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eqArr>
                        <m:eqArrPr>
                          <m:ctrlP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e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e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xmlns:a="http://schemas.openxmlformats.org/drawingml/2006/main" sz="520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eqArr>
                    </m:e>
                  </m:d>
                </m:oMath>
              </m:oMathPara>
            </a14:m>
            <a:endParaRPr sz="5200">
              <a:solidFill>
                <a:srgbClr val="FFFFFF"/>
              </a:solidFill>
            </a:endParaRPr>
          </a:p>
        </p:txBody>
      </p:sp>
      <p:sp>
        <p:nvSpPr>
          <p:cNvPr id="524" name="Does the probabilistic interpretation hold here?…"/>
          <p:cNvSpPr txBox="1"/>
          <p:nvPr/>
        </p:nvSpPr>
        <p:spPr>
          <a:xfrm>
            <a:off x="4140629" y="4844374"/>
            <a:ext cx="16102742" cy="7064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ctr">
              <a:lnSpc>
                <a:spcPct val="80000"/>
              </a:lnSpc>
              <a:spcBef>
                <a:spcPts val="1000"/>
              </a:spcBef>
              <a:defRPr i="1" spc="-97" sz="490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t>Does the probabilistic interpretation hold here?</a:t>
            </a:r>
          </a:p>
          <a:p>
            <a:pPr algn="ctr"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i.e. do the squares of the coefficient magnitudes correspond to probabilities of the outcomes?</a:t>
            </a:r>
          </a:p>
          <a:p>
            <a:pPr algn="ctr"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algn="ctr"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14:m>
              <m:oMathPara>
                <m:oMathParaPr>
                  <m:jc m:val="center"/>
                </m:oMathParaPr>
                <m:oMath>
                  <m:d>
                    <m:dPr>
                      <m:ctrlP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sSup>
                        <m:e>
                          <m:r>
                            <a:rPr xmlns:a="http://schemas.openxmlformats.org/drawingml/2006/main" sz="55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55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</m:e>
                  </m:d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d>
                    <m:dPr>
                      <m:ctrlP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p>
                        <m:e>
                          <m:r>
                            <a:rPr xmlns:a="http://schemas.openxmlformats.org/drawingml/2006/main" sz="55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55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</m:e>
                  </m:d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d>
                    <m:dPr>
                      <m:ctrlP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sSup>
                        <m:e>
                          <m:r>
                            <a:rPr xmlns:a="http://schemas.openxmlformats.org/drawingml/2006/main" sz="55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55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</m:e>
                  </m:d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+</m:t>
                  </m:r>
                  <m:d>
                    <m:dPr>
                      <m:ctrlP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xmlns:a="http://schemas.openxmlformats.org/drawingml/2006/main" sz="5550" i="1">
                          <a:solidFill>
                            <a:srgbClr val="FEFFFE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p>
                        <m:e>
                          <m:r>
                            <a:rPr xmlns:a="http://schemas.openxmlformats.org/drawingml/2006/main" sz="55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5550" i="1">
                              <a:solidFill>
                                <a:srgbClr val="FEFFFE"/>
                              </a:solidFill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</m:e>
                  </m:d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b</m:t>
                  </m:r>
                  <m:r>
                    <a:rPr xmlns:a="http://schemas.openxmlformats.org/drawingml/2006/main" sz="5550" i="1">
                      <a:solidFill>
                        <a:srgbClr val="FEFFFE"/>
                      </a:solidFill>
                      <a:latin typeface="Cambria Math" panose="02040503050406030204" pitchFamily="18" charset="0"/>
                    </a:rPr>
                    <m:t>d</m:t>
                  </m:r>
                </m:oMath>
              </m:oMathPara>
            </a14:m>
          </a:p>
          <a:p>
            <a:pPr algn="ctr"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</a:p>
          <a:p>
            <a:pPr algn="ctr"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YES!</a:t>
            </a:r>
          </a:p>
          <a:p>
            <a:pPr algn="ctr">
              <a:lnSpc>
                <a:spcPct val="80000"/>
              </a:lnSpc>
              <a:spcBef>
                <a:spcPts val="1000"/>
              </a:spcBef>
              <a:defRPr spc="-97" sz="49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pPr>
            <a:r>
              <a:t>It’s almost like describing two separate (classical) coins.</a:t>
            </a:r>
          </a:p>
        </p:txBody>
      </p:sp>
      <p:pic>
        <p:nvPicPr>
          <p:cNvPr id="52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9415" y="5075714"/>
            <a:ext cx="4462365" cy="2231183"/>
          </a:xfrm>
          <a:prstGeom prst="rect">
            <a:avLst/>
          </a:prstGeom>
          <a:ln w="76200">
            <a:solidFill>
              <a:srgbClr val="FFFFFF"/>
            </a:solidFill>
            <a:miter lim="400000"/>
          </a:ln>
        </p:spPr>
      </p:pic>
      <p:pic>
        <p:nvPicPr>
          <p:cNvPr id="52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565404" y="5075714"/>
            <a:ext cx="4462365" cy="2231183"/>
          </a:xfrm>
          <a:prstGeom prst="rect">
            <a:avLst/>
          </a:prstGeom>
          <a:ln w="76200">
            <a:solidFill>
              <a:srgbClr val="FFFFFF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300"/>
                                        <p:tgtEl>
                                          <p:spTgt spid="5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300"/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300"/>
                                        <p:tgtEl>
                                          <p:spTgt spid="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300"/>
                                        <p:tgtEl>
                                          <p:spTgt spid="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300"/>
                                        <p:tgtEl>
                                          <p:spTgt spid="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0" dur="300"/>
                                        <p:tgtEl>
                                          <p:spTgt spid="5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5" dur="300"/>
                                        <p:tgtEl>
                                          <p:spTgt spid="5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0" dur="300"/>
                                        <p:tgtEl>
                                          <p:spTgt spid="5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5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50"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26" grpId="3"/>
      <p:bldP build="whole" bldLvl="1" animBg="1" rev="0" advAuto="0" spid="525" grpId="2"/>
      <p:bldP build="p" bldLvl="5" animBg="1" rev="0" advAuto="0" spid="524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That’s all for today!"/>
          <p:cNvSpPr txBox="1"/>
          <p:nvPr/>
        </p:nvSpPr>
        <p:spPr>
          <a:xfrm>
            <a:off x="6936320" y="6187303"/>
            <a:ext cx="9279663" cy="134139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8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That’s all for today!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